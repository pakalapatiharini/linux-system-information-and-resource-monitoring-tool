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3E9F8"/>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100" b="1" dirty="0">
                <a:solidFill>
                  <a:srgbClr val="5B6FB0"/>
                </a:solidFill>
                <a:latin typeface="Calibri" pitchFamily="34" charset="0"/>
                <a:ea typeface="Calibri" pitchFamily="34" charset="-122"/>
                <a:cs typeface="Calibri" pitchFamily="34" charset="-120"/>
              </a:rPr>
              <a:t>OPERATING SYSTEMS AND SYSTEMS PROGRAMMING (25CS2104E)  |  2026–27, TERM-I</a:t>
            </a:r>
            <a:endParaRPr lang="en-US" sz="1100" dirty="0"/>
          </a:p>
        </p:txBody>
      </p:sp>
      <p:sp>
        <p:nvSpPr>
          <p:cNvPr id="3" name="Text 1"/>
          <p:cNvSpPr txBox="1"/>
          <p:nvPr/>
        </p:nvSpPr>
        <p:spPr>
          <a:xfrm>
            <a:off x="457200" y="777240"/>
            <a:ext cx="8229600" cy="274320"/>
          </a:xfrm>
          <a:prstGeom prst="rect">
            <a:avLst/>
          </a:prstGeom>
          <a:noFill/>
          <a:ln/>
        </p:spPr>
        <p:txBody>
          <a:bodyPr wrap="square" lIns="0" tIns="0" rIns="0" bIns="0" rtlCol="0" anchor="ctr"/>
          <a:lstStyle/>
          <a:p>
            <a:pPr indent="0" marL="0">
              <a:buNone/>
            </a:pPr>
            <a:r>
              <a:rPr lang="en-US" sz="1400" b="1" dirty="0">
                <a:solidFill>
                  <a:srgbClr val="2F3A56"/>
                </a:solidFill>
                <a:latin typeface="Calibri" pitchFamily="34" charset="0"/>
                <a:ea typeface="Calibri" pitchFamily="34" charset="-122"/>
                <a:cs typeface="Calibri" pitchFamily="34" charset="-120"/>
              </a:rPr>
              <a:t>Project Title:</a:t>
            </a:r>
            <a:endParaRPr lang="en-US" sz="1400" dirty="0"/>
          </a:p>
        </p:txBody>
      </p:sp>
      <p:sp>
        <p:nvSpPr>
          <p:cNvPr id="4" name="Text 2"/>
          <p:cNvSpPr txBox="1"/>
          <p:nvPr/>
        </p:nvSpPr>
        <p:spPr>
          <a:xfrm>
            <a:off x="457200" y="1051560"/>
            <a:ext cx="8229600" cy="868680"/>
          </a:xfrm>
          <a:prstGeom prst="rect">
            <a:avLst/>
          </a:prstGeom>
          <a:noFill/>
          <a:ln/>
        </p:spPr>
        <p:txBody>
          <a:bodyPr wrap="square" lIns="0" tIns="0" rIns="0" bIns="0" rtlCol="0" anchor="ctr"/>
          <a:lstStyle/>
          <a:p>
            <a:pPr indent="0" marL="0">
              <a:buNone/>
            </a:pPr>
            <a:r>
              <a:rPr lang="en-US" sz="2800" b="1" dirty="0">
                <a:solidFill>
                  <a:srgbClr val="2F3A56"/>
                </a:solidFill>
                <a:latin typeface="Cambria" pitchFamily="34" charset="0"/>
                <a:ea typeface="Cambria" pitchFamily="34" charset="-122"/>
                <a:cs typeface="Cambria" pitchFamily="34" charset="-120"/>
              </a:rPr>
              <a:t>Linux System Information and Resource Monitoring Tool</a:t>
            </a:r>
            <a:endParaRPr lang="en-US" sz="2800" dirty="0"/>
          </a:p>
        </p:txBody>
      </p:sp>
      <p:sp>
        <p:nvSpPr>
          <p:cNvPr id="5" name="Text 3"/>
          <p:cNvSpPr txBox="1"/>
          <p:nvPr/>
        </p:nvSpPr>
        <p:spPr>
          <a:xfrm>
            <a:off x="457200" y="2011680"/>
            <a:ext cx="8229600" cy="320040"/>
          </a:xfrm>
          <a:prstGeom prst="rect">
            <a:avLst/>
          </a:prstGeom>
          <a:noFill/>
          <a:ln/>
        </p:spPr>
        <p:txBody>
          <a:bodyPr wrap="square" lIns="0" tIns="0" rIns="0" bIns="0" rtlCol="0" anchor="ctr"/>
          <a:lstStyle/>
          <a:p>
            <a:pPr indent="0" marL="0">
              <a:buNone/>
            </a:pPr>
            <a:r>
              <a:rPr lang="en-US" sz="1600" b="1" dirty="0">
                <a:solidFill>
                  <a:srgbClr val="2F3A56"/>
                </a:solidFill>
                <a:latin typeface="Calibri" pitchFamily="34" charset="0"/>
                <a:ea typeface="Calibri" pitchFamily="34" charset="-122"/>
                <a:cs typeface="Calibri" pitchFamily="34" charset="-120"/>
              </a:rPr>
              <a:t>Section No.: </a:t>
            </a:r>
            <a:pPr indent="0" marL="0">
              <a:buNone/>
            </a:pPr>
            <a:r>
              <a:rPr lang="en-US" sz="1600" dirty="0">
                <a:solidFill>
                  <a:srgbClr val="2F3A56"/>
                </a:solidFill>
                <a:latin typeface="Calibri" pitchFamily="34" charset="0"/>
                <a:ea typeface="Calibri" pitchFamily="34" charset="-122"/>
                <a:cs typeface="Calibri" pitchFamily="34" charset="-120"/>
              </a:rPr>
              <a:t>7</a:t>
            </a:r>
            <a:pPr indent="0" marL="0">
              <a:buNone/>
            </a:pPr>
            <a:r>
              <a:rPr lang="en-US" sz="1600" dirty="0">
                <a:solidFill>
                  <a:srgbClr val="000000"/>
                </a:solidFill>
                <a:latin typeface="Calibri" pitchFamily="34" charset="0"/>
                <a:ea typeface="Calibri" pitchFamily="34" charset="-122"/>
                <a:cs typeface="Calibri" pitchFamily="34" charset="-120"/>
              </a:rPr>
              <a:t>        </a:t>
            </a:r>
            <a:pPr indent="0" marL="0">
              <a:buNone/>
            </a:pPr>
            <a:r>
              <a:rPr lang="en-US" sz="1600" b="1" dirty="0">
                <a:solidFill>
                  <a:srgbClr val="2F3A56"/>
                </a:solidFill>
                <a:latin typeface="Calibri" pitchFamily="34" charset="0"/>
                <a:ea typeface="Calibri" pitchFamily="34" charset="-122"/>
                <a:cs typeface="Calibri" pitchFamily="34" charset="-120"/>
              </a:rPr>
              <a:t>Team No.: </a:t>
            </a:r>
            <a:pPr indent="0" marL="0">
              <a:buNone/>
            </a:pPr>
            <a:r>
              <a:rPr lang="en-US" sz="1600" dirty="0">
                <a:solidFill>
                  <a:srgbClr val="2F3A56"/>
                </a:solidFill>
                <a:latin typeface="Calibri" pitchFamily="34" charset="0"/>
                <a:ea typeface="Calibri" pitchFamily="34" charset="-122"/>
                <a:cs typeface="Calibri" pitchFamily="34" charset="-120"/>
              </a:rPr>
              <a:t>7</a:t>
            </a:r>
            <a:endParaRPr lang="en-US" sz="1600" dirty="0"/>
          </a:p>
        </p:txBody>
      </p:sp>
      <p:sp>
        <p:nvSpPr>
          <p:cNvPr id="6" name="Text 4"/>
          <p:cNvSpPr txBox="1"/>
          <p:nvPr/>
        </p:nvSpPr>
        <p:spPr>
          <a:xfrm>
            <a:off x="457200" y="2514600"/>
            <a:ext cx="8229600" cy="320040"/>
          </a:xfrm>
          <a:prstGeom prst="rect">
            <a:avLst/>
          </a:prstGeom>
          <a:noFill/>
          <a:ln/>
        </p:spPr>
        <p:txBody>
          <a:bodyPr wrap="square" lIns="0" tIns="0" rIns="0" bIns="0" rtlCol="0" anchor="ctr"/>
          <a:lstStyle/>
          <a:p>
            <a:pPr indent="0" marL="0">
              <a:buNone/>
            </a:pPr>
            <a:r>
              <a:rPr lang="en-US" sz="1800" b="1" dirty="0">
                <a:solidFill>
                  <a:srgbClr val="2F3A56"/>
                </a:solidFill>
                <a:latin typeface="Cambria" pitchFamily="34" charset="0"/>
                <a:ea typeface="Cambria" pitchFamily="34" charset="-122"/>
                <a:cs typeface="Cambria" pitchFamily="34" charset="-120"/>
              </a:rPr>
              <a:t>Team Members</a:t>
            </a:r>
            <a:endParaRPr lang="en-US" sz="18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8229600" cy="914400"/>
        </p:xfrm>
        <a:graphic>
          <a:graphicData uri="http://schemas.openxmlformats.org/drawingml/2006/table">
            <a:tbl>
              <a:tblPr/>
              <a:tblGrid>
                <a:gridCol w="1645920"/>
                <a:gridCol w="2286000"/>
                <a:gridCol w="4297680"/>
              </a:tblGrid>
              <a:tr h="384048">
                <a:tc>
                  <a:txBody>
                    <a:bodyPr/>
                    <a:lstStyle/>
                    <a:p>
                      <a:pPr indent="0" marL="0">
                        <a:buNone/>
                      </a:pPr>
                      <a:r>
                        <a:rPr lang="en-US" sz="1300" b="1" dirty="0">
                          <a:solidFill>
                            <a:srgbClr val="2F3A56"/>
                          </a:solidFill>
                          <a:latin typeface="Calibri" pitchFamily="34" charset="0"/>
                          <a:ea typeface="Calibri" pitchFamily="34" charset="-122"/>
                          <a:cs typeface="Calibri" pitchFamily="34" charset="-120"/>
                        </a:rPr>
                        <a:t>Roll Number</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BBD3F2"/>
                    </a:solidFill>
                  </a:tcPr>
                </a:tc>
                <a:tc>
                  <a:txBody>
                    <a:bodyPr/>
                    <a:lstStyle/>
                    <a:p>
                      <a:pPr indent="0" marL="0">
                        <a:buNone/>
                      </a:pPr>
                      <a:r>
                        <a:rPr lang="en-US" sz="1300" b="1" dirty="0">
                          <a:solidFill>
                            <a:srgbClr val="2F3A56"/>
                          </a:solidFill>
                          <a:latin typeface="Calibri" pitchFamily="34" charset="0"/>
                          <a:ea typeface="Calibri" pitchFamily="34" charset="-122"/>
                          <a:cs typeface="Calibri" pitchFamily="34" charset="-120"/>
                        </a:rPr>
                        <a:t>Student Name</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BBD3F2"/>
                    </a:solidFill>
                  </a:tcPr>
                </a:tc>
                <a:tc>
                  <a:txBody>
                    <a:bodyPr/>
                    <a:lstStyle/>
                    <a:p>
                      <a:pPr indent="0" marL="0">
                        <a:buNone/>
                      </a:pPr>
                      <a:r>
                        <a:rPr lang="en-US" sz="1300" b="1" dirty="0">
                          <a:solidFill>
                            <a:srgbClr val="2F3A56"/>
                          </a:solidFill>
                          <a:latin typeface="Calibri" pitchFamily="34" charset="0"/>
                          <a:ea typeface="Calibri" pitchFamily="34" charset="-122"/>
                          <a:cs typeface="Calibri" pitchFamily="34" charset="-120"/>
                        </a:rPr>
                        <a:t>Responsibility</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BBD3F2"/>
                    </a:solidFill>
                  </a:tcPr>
                </a:tc>
              </a:tr>
              <a:tr h="384048">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2520030177</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P. Harini</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Process control, TCP client-server, thresholds</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r>
              <a:tr h="384048">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2520030178</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FFFFF"/>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Aasritha</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FFFFF"/>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Log management, /proc extraction, continuous monitoring</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2520030077</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P. Bindhu Madhavi</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c>
                  <a:txBody>
                    <a:bodyPr/>
                    <a:lstStyle/>
                    <a:p>
                      <a:pPr indent="0" marL="0">
                        <a:buNone/>
                      </a:pPr>
                      <a:r>
                        <a:rPr lang="en-US" sz="1300" dirty="0">
                          <a:solidFill>
                            <a:srgbClr val="2F3A56"/>
                          </a:solidFill>
                          <a:latin typeface="Calibri" pitchFamily="34" charset="0"/>
                          <a:ea typeface="Calibri" pitchFamily="34" charset="-122"/>
                          <a:cs typeface="Calibri" pitchFamily="34" charset="-120"/>
                        </a:rPr>
                        <a:t>System info, CPU/memory monitoring, CLI</a:t>
                      </a:r>
                      <a:endParaRPr lang="en-US" sz="1300" dirty="0">
                        <a:latin typeface="Calibri" charset="0"/>
                        <a:ea typeface="Calibri" charset="0"/>
                        <a:cs typeface="Calibri" charset="0"/>
                      </a:endParaRPr>
                    </a:p>
                  </a:txBody>
                  <a:tcPr marL="109728" marR="109728" marT="0" marB="0" anchor="ctr">
                    <a:lnL w="9525" cap="flat" cmpd="sng" algn="ctr">
                      <a:solidFill>
                        <a:srgbClr val="C9D3EC"/>
                      </a:solidFill>
                      <a:prstDash val="solid"/>
                      <a:round/>
                      <a:headEnd type="none" w="med" len="med"/>
                      <a:tailEnd type="none" w="med" len="med"/>
                    </a:lnL>
                    <a:lnR w="9525" cap="flat" cmpd="sng" algn="ctr">
                      <a:solidFill>
                        <a:srgbClr val="C9D3EC"/>
                      </a:solidFill>
                      <a:prstDash val="solid"/>
                      <a:round/>
                      <a:headEnd type="none" w="med" len="med"/>
                      <a:tailEnd type="none" w="med" len="med"/>
                    </a:lnR>
                    <a:lnT w="9525" cap="flat" cmpd="sng" algn="ctr">
                      <a:solidFill>
                        <a:srgbClr val="C9D3EC"/>
                      </a:solidFill>
                      <a:prstDash val="solid"/>
                      <a:round/>
                      <a:headEnd type="none" w="med" len="med"/>
                      <a:tailEnd type="none" w="med" len="med"/>
                    </a:lnT>
                    <a:lnB w="9525" cap="flat" cmpd="sng" algn="ctr">
                      <a:solidFill>
                        <a:srgbClr val="C9D3EC"/>
                      </a:solidFill>
                      <a:prstDash val="solid"/>
                      <a:round/>
                      <a:headEnd type="none" w="med" len="med"/>
                      <a:tailEnd type="none" w="med" len="med"/>
                    </a:lnB>
                    <a:solidFill>
                      <a:srgbClr val="F1F4FC"/>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Abstract</a:t>
            </a:r>
            <a:endParaRPr lang="en-US" sz="3000" dirty="0"/>
          </a:p>
        </p:txBody>
      </p:sp>
      <p:sp>
        <p:nvSpPr>
          <p:cNvPr id="5" name="Text 2"/>
          <p:cNvSpPr txBox="1"/>
          <p:nvPr/>
        </p:nvSpPr>
        <p:spPr>
          <a:xfrm>
            <a:off x="457200" y="1280160"/>
            <a:ext cx="4846320" cy="3429000"/>
          </a:xfrm>
          <a:prstGeom prst="rect">
            <a:avLst/>
          </a:prstGeom>
          <a:noFill/>
          <a:ln/>
        </p:spPr>
        <p:txBody>
          <a:bodyPr wrap="square" lIns="0" tIns="0" rIns="0" bIns="0" rtlCol="0" anchor="t"/>
          <a:lstStyle/>
          <a:p>
            <a:pPr indent="0" marL="0">
              <a:spcAft>
                <a:spcPts val="1000"/>
              </a:spcAft>
              <a:buNone/>
            </a:pPr>
            <a:r>
              <a:rPr lang="en-US" sz="1350" dirty="0">
                <a:solidFill>
                  <a:srgbClr val="2F3A56"/>
                </a:solidFill>
                <a:latin typeface="Calibri" pitchFamily="34" charset="0"/>
                <a:ea typeface="Calibri" pitchFamily="34" charset="-122"/>
                <a:cs typeface="Calibri" pitchFamily="34" charset="-120"/>
              </a:rPr>
              <a:t>A C-based Linux tool that monitors system resources and running processes through a simple command-line interface. It reports CPU details, CPU usage, memory usage, disk usage and uptime, and scans the /proc filesystem for each process's PID, name, state and memory usage.</a:t>
            </a:r>
            <a:endParaRPr lang="en-US" sz="1350" dirty="0"/>
          </a:p>
          <a:p>
            <a:pPr indent="0" marL="0">
              <a:spcAft>
                <a:spcPts val="1000"/>
              </a:spcAft>
              <a:buNone/>
            </a:pPr>
            <a:r>
              <a:rPr lang="en-US" sz="1350" dirty="0">
                <a:solidFill>
                  <a:srgbClr val="2F3A56"/>
                </a:solidFill>
                <a:latin typeface="Calibri" pitchFamily="34" charset="0"/>
                <a:ea typeface="Calibri" pitchFamily="34" charset="-122"/>
                <a:cs typeface="Calibri" pitchFamily="34" charset="-120"/>
              </a:rPr>
              <a:t>Users set CPU and memory thresholds and receive warnings when limits are exceeded. Processes can be stopped, continued or terminated by PID using signals. Continuous monitoring detects newly created and terminated processes, and activity is saved to a log file.</a:t>
            </a:r>
            <a:endParaRPr lang="en-US" sz="1350" dirty="0"/>
          </a:p>
          <a:p>
            <a:pPr indent="0" marL="0">
              <a:buNone/>
            </a:pPr>
            <a:r>
              <a:rPr lang="en-US" sz="1350" dirty="0">
                <a:solidFill>
                  <a:srgbClr val="2F3A56"/>
                </a:solidFill>
                <a:latin typeface="Calibri" pitchFamily="34" charset="0"/>
                <a:ea typeface="Calibri" pitchFamily="34" charset="-122"/>
                <a:cs typeface="Calibri" pitchFamily="34" charset="-120"/>
              </a:rPr>
              <a:t>A client-server design over TCP sockets separates the user interface from the monitoring server, and POSIX threads keep monitoring running continuously.</a:t>
            </a:r>
            <a:endParaRPr lang="en-US" sz="1350" dirty="0"/>
          </a:p>
        </p:txBody>
      </p:sp>
      <p:sp>
        <p:nvSpPr>
          <p:cNvPr id="6" name="Shape 3"/>
          <p:cNvSpPr/>
          <p:nvPr/>
        </p:nvSpPr>
        <p:spPr>
          <a:xfrm>
            <a:off x="5577840" y="1280160"/>
            <a:ext cx="31089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7" name="Shape 4"/>
          <p:cNvSpPr/>
          <p:nvPr/>
        </p:nvSpPr>
        <p:spPr>
          <a:xfrm>
            <a:off x="5715000" y="1408176"/>
            <a:ext cx="493776" cy="493776"/>
          </a:xfrm>
          <a:prstGeom prst="ellipse">
            <a:avLst/>
          </a:prstGeom>
          <a:solidFill>
            <a:srgbClr val="BBD3F2"/>
          </a:solidFill>
          <a:ln w="12700">
            <a:solidFill>
              <a:srgbClr val="BBD3F2"/>
            </a:solidFill>
            <a:prstDash val="solid"/>
          </a:ln>
        </p:spPr>
      </p:sp>
      <p:pic>
        <p:nvPicPr>
          <p:cNvPr id="8" name="Image 1" descr="preencoded.png">    </p:cNvPr>
          <p:cNvPicPr>
            <a:picLocks noChangeAspect="1"/>
          </p:cNvPicPr>
          <p:nvPr/>
        </p:nvPicPr>
        <p:blipFill>
          <a:blip r:embed="rId2"/>
          <a:stretch>
            <a:fillRect/>
          </a:stretch>
        </p:blipFill>
        <p:spPr>
          <a:xfrm>
            <a:off x="5838444" y="1531620"/>
            <a:ext cx="246888" cy="246888"/>
          </a:xfrm>
          <a:prstGeom prst="rect">
            <a:avLst/>
          </a:prstGeom>
        </p:spPr>
      </p:pic>
      <p:sp>
        <p:nvSpPr>
          <p:cNvPr id="9" name="Text 5"/>
          <p:cNvSpPr txBox="1"/>
          <p:nvPr/>
        </p:nvSpPr>
        <p:spPr>
          <a:xfrm>
            <a:off x="6355080" y="1280160"/>
            <a:ext cx="2240280" cy="749808"/>
          </a:xfrm>
          <a:prstGeom prst="rect">
            <a:avLst/>
          </a:prstGeom>
          <a:noFill/>
          <a:ln/>
        </p:spPr>
        <p:txBody>
          <a:bodyPr wrap="square" lIns="0" tIns="0" rIns="0" bIns="0" rtlCol="0" anchor="ctr"/>
          <a:lstStyle/>
          <a:p>
            <a:pPr indent="0" marL="0">
              <a:buNone/>
            </a:pPr>
            <a:r>
              <a:rPr lang="en-US" sz="1300" b="1" dirty="0">
                <a:solidFill>
                  <a:srgbClr val="2F3A56"/>
                </a:solidFill>
                <a:latin typeface="Calibri" pitchFamily="34" charset="0"/>
                <a:ea typeface="Calibri" pitchFamily="34" charset="-122"/>
                <a:cs typeface="Calibri" pitchFamily="34" charset="-120"/>
              </a:rPr>
              <a:t>System resources</a:t>
            </a:r>
            <a:endParaRPr lang="en-US" sz="1300" dirty="0"/>
          </a:p>
          <a:p>
            <a:pPr indent="0" marL="0">
              <a:buNone/>
            </a:pPr>
            <a:r>
              <a:rPr lang="en-US" sz="1100" dirty="0">
                <a:solidFill>
                  <a:srgbClr val="667090"/>
                </a:solidFill>
                <a:latin typeface="Calibri" pitchFamily="34" charset="0"/>
                <a:ea typeface="Calibri" pitchFamily="34" charset="-122"/>
                <a:cs typeface="Calibri" pitchFamily="34" charset="-120"/>
              </a:rPr>
              <a:t>CPU, memory, disk, uptime</a:t>
            </a:r>
            <a:endParaRPr lang="en-US" sz="1300" dirty="0"/>
          </a:p>
        </p:txBody>
      </p:sp>
      <p:sp>
        <p:nvSpPr>
          <p:cNvPr id="10" name="Shape 6"/>
          <p:cNvSpPr/>
          <p:nvPr/>
        </p:nvSpPr>
        <p:spPr>
          <a:xfrm>
            <a:off x="5577840" y="2176272"/>
            <a:ext cx="31089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5715000" y="2304288"/>
            <a:ext cx="493776" cy="493776"/>
          </a:xfrm>
          <a:prstGeom prst="ellipse">
            <a:avLst/>
          </a:prstGeom>
          <a:solidFill>
            <a:srgbClr val="CBE8DA"/>
          </a:solidFill>
          <a:ln w="12700">
            <a:solidFill>
              <a:srgbClr val="CBE8DA"/>
            </a:solidFill>
            <a:prstDash val="solid"/>
          </a:ln>
        </p:spPr>
      </p:sp>
      <p:pic>
        <p:nvPicPr>
          <p:cNvPr id="12" name="Image 2" descr="preencoded.png">    </p:cNvPr>
          <p:cNvPicPr>
            <a:picLocks noChangeAspect="1"/>
          </p:cNvPicPr>
          <p:nvPr/>
        </p:nvPicPr>
        <p:blipFill>
          <a:blip r:embed="rId3"/>
          <a:stretch>
            <a:fillRect/>
          </a:stretch>
        </p:blipFill>
        <p:spPr>
          <a:xfrm>
            <a:off x="5838444" y="2427732"/>
            <a:ext cx="246888" cy="246888"/>
          </a:xfrm>
          <a:prstGeom prst="rect">
            <a:avLst/>
          </a:prstGeom>
        </p:spPr>
      </p:pic>
      <p:sp>
        <p:nvSpPr>
          <p:cNvPr id="13" name="Text 8"/>
          <p:cNvSpPr txBox="1"/>
          <p:nvPr/>
        </p:nvSpPr>
        <p:spPr>
          <a:xfrm>
            <a:off x="6355080" y="2176272"/>
            <a:ext cx="2240280" cy="749808"/>
          </a:xfrm>
          <a:prstGeom prst="rect">
            <a:avLst/>
          </a:prstGeom>
          <a:noFill/>
          <a:ln/>
        </p:spPr>
        <p:txBody>
          <a:bodyPr wrap="square" lIns="0" tIns="0" rIns="0" bIns="0" rtlCol="0" anchor="ctr"/>
          <a:lstStyle/>
          <a:p>
            <a:pPr indent="0" marL="0">
              <a:buNone/>
            </a:pPr>
            <a:r>
              <a:rPr lang="en-US" sz="1300" b="1" dirty="0">
                <a:solidFill>
                  <a:srgbClr val="2F3A56"/>
                </a:solidFill>
                <a:latin typeface="Calibri" pitchFamily="34" charset="0"/>
                <a:ea typeface="Calibri" pitchFamily="34" charset="-122"/>
                <a:cs typeface="Calibri" pitchFamily="34" charset="-120"/>
              </a:rPr>
              <a:t>/proc scanning</a:t>
            </a:r>
            <a:endParaRPr lang="en-US" sz="1300" dirty="0"/>
          </a:p>
          <a:p>
            <a:pPr indent="0" marL="0">
              <a:buNone/>
            </a:pPr>
            <a:r>
              <a:rPr lang="en-US" sz="1100" dirty="0">
                <a:solidFill>
                  <a:srgbClr val="667090"/>
                </a:solidFill>
                <a:latin typeface="Calibri" pitchFamily="34" charset="0"/>
                <a:ea typeface="Calibri" pitchFamily="34" charset="-122"/>
                <a:cs typeface="Calibri" pitchFamily="34" charset="-120"/>
              </a:rPr>
              <a:t>PID, name, state, memory</a:t>
            </a:r>
            <a:endParaRPr lang="en-US" sz="1300" dirty="0"/>
          </a:p>
        </p:txBody>
      </p:sp>
      <p:sp>
        <p:nvSpPr>
          <p:cNvPr id="14" name="Shape 9"/>
          <p:cNvSpPr/>
          <p:nvPr/>
        </p:nvSpPr>
        <p:spPr>
          <a:xfrm>
            <a:off x="5577840" y="3072384"/>
            <a:ext cx="31089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Shape 10"/>
          <p:cNvSpPr/>
          <p:nvPr/>
        </p:nvSpPr>
        <p:spPr>
          <a:xfrm>
            <a:off x="5715000" y="3200400"/>
            <a:ext cx="493776" cy="493776"/>
          </a:xfrm>
          <a:prstGeom prst="ellipse">
            <a:avLst/>
          </a:prstGeom>
          <a:solidFill>
            <a:srgbClr val="D9D0F2"/>
          </a:solidFill>
          <a:ln w="12700">
            <a:solidFill>
              <a:srgbClr val="D9D0F2"/>
            </a:solidFill>
            <a:prstDash val="solid"/>
          </a:ln>
        </p:spPr>
      </p:sp>
      <p:pic>
        <p:nvPicPr>
          <p:cNvPr id="16" name="Image 3" descr="preencoded.png">    </p:cNvPr>
          <p:cNvPicPr>
            <a:picLocks noChangeAspect="1"/>
          </p:cNvPicPr>
          <p:nvPr/>
        </p:nvPicPr>
        <p:blipFill>
          <a:blip r:embed="rId4"/>
          <a:stretch>
            <a:fillRect/>
          </a:stretch>
        </p:blipFill>
        <p:spPr>
          <a:xfrm>
            <a:off x="5838444" y="3323844"/>
            <a:ext cx="246888" cy="246888"/>
          </a:xfrm>
          <a:prstGeom prst="rect">
            <a:avLst/>
          </a:prstGeom>
        </p:spPr>
      </p:pic>
      <p:sp>
        <p:nvSpPr>
          <p:cNvPr id="17" name="Text 11"/>
          <p:cNvSpPr txBox="1"/>
          <p:nvPr/>
        </p:nvSpPr>
        <p:spPr>
          <a:xfrm>
            <a:off x="6355080" y="3072384"/>
            <a:ext cx="2240280" cy="749808"/>
          </a:xfrm>
          <a:prstGeom prst="rect">
            <a:avLst/>
          </a:prstGeom>
          <a:noFill/>
          <a:ln/>
        </p:spPr>
        <p:txBody>
          <a:bodyPr wrap="square" lIns="0" tIns="0" rIns="0" bIns="0" rtlCol="0" anchor="ctr"/>
          <a:lstStyle/>
          <a:p>
            <a:pPr indent="0" marL="0">
              <a:buNone/>
            </a:pPr>
            <a:r>
              <a:rPr lang="en-US" sz="1300" b="1" dirty="0">
                <a:solidFill>
                  <a:srgbClr val="2F3A56"/>
                </a:solidFill>
                <a:latin typeface="Calibri" pitchFamily="34" charset="0"/>
                <a:ea typeface="Calibri" pitchFamily="34" charset="-122"/>
                <a:cs typeface="Calibri" pitchFamily="34" charset="-120"/>
              </a:rPr>
              <a:t>Signal control</a:t>
            </a:r>
            <a:endParaRPr lang="en-US" sz="1300" dirty="0"/>
          </a:p>
          <a:p>
            <a:pPr indent="0" marL="0">
              <a:buNone/>
            </a:pPr>
            <a:r>
              <a:rPr lang="en-US" sz="1100" dirty="0">
                <a:solidFill>
                  <a:srgbClr val="667090"/>
                </a:solidFill>
                <a:latin typeface="Calibri" pitchFamily="34" charset="0"/>
                <a:ea typeface="Calibri" pitchFamily="34" charset="-122"/>
                <a:cs typeface="Calibri" pitchFamily="34" charset="-120"/>
              </a:rPr>
              <a:t>Stop, continue, terminate</a:t>
            </a:r>
            <a:endParaRPr lang="en-US" sz="1300" dirty="0"/>
          </a:p>
        </p:txBody>
      </p:sp>
      <p:sp>
        <p:nvSpPr>
          <p:cNvPr id="18" name="Shape 12"/>
          <p:cNvSpPr/>
          <p:nvPr/>
        </p:nvSpPr>
        <p:spPr>
          <a:xfrm>
            <a:off x="5577840" y="3968496"/>
            <a:ext cx="3108960" cy="749808"/>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9" name="Shape 13"/>
          <p:cNvSpPr/>
          <p:nvPr/>
        </p:nvSpPr>
        <p:spPr>
          <a:xfrm>
            <a:off x="5715000" y="4096512"/>
            <a:ext cx="493776" cy="493776"/>
          </a:xfrm>
          <a:prstGeom prst="ellipse">
            <a:avLst/>
          </a:prstGeom>
          <a:solidFill>
            <a:srgbClr val="F6CDBF"/>
          </a:solidFill>
          <a:ln w="12700">
            <a:solidFill>
              <a:srgbClr val="F6CDBF"/>
            </a:solidFill>
            <a:prstDash val="solid"/>
          </a:ln>
        </p:spPr>
      </p:sp>
      <p:pic>
        <p:nvPicPr>
          <p:cNvPr id="20" name="Image 4" descr="preencoded.png">    </p:cNvPr>
          <p:cNvPicPr>
            <a:picLocks noChangeAspect="1"/>
          </p:cNvPicPr>
          <p:nvPr/>
        </p:nvPicPr>
        <p:blipFill>
          <a:blip r:embed="rId5"/>
          <a:stretch>
            <a:fillRect/>
          </a:stretch>
        </p:blipFill>
        <p:spPr>
          <a:xfrm>
            <a:off x="5838444" y="4219956"/>
            <a:ext cx="246888" cy="246888"/>
          </a:xfrm>
          <a:prstGeom prst="rect">
            <a:avLst/>
          </a:prstGeom>
        </p:spPr>
      </p:pic>
      <p:sp>
        <p:nvSpPr>
          <p:cNvPr id="21" name="Text 14"/>
          <p:cNvSpPr txBox="1"/>
          <p:nvPr/>
        </p:nvSpPr>
        <p:spPr>
          <a:xfrm>
            <a:off x="6355080" y="3968496"/>
            <a:ext cx="2240280" cy="749808"/>
          </a:xfrm>
          <a:prstGeom prst="rect">
            <a:avLst/>
          </a:prstGeom>
          <a:noFill/>
          <a:ln/>
        </p:spPr>
        <p:txBody>
          <a:bodyPr wrap="square" lIns="0" tIns="0" rIns="0" bIns="0" rtlCol="0" anchor="ctr"/>
          <a:lstStyle/>
          <a:p>
            <a:pPr indent="0" marL="0">
              <a:buNone/>
            </a:pPr>
            <a:r>
              <a:rPr lang="en-US" sz="1300" b="1" dirty="0">
                <a:solidFill>
                  <a:srgbClr val="2F3A56"/>
                </a:solidFill>
                <a:latin typeface="Calibri" pitchFamily="34" charset="0"/>
                <a:ea typeface="Calibri" pitchFamily="34" charset="-122"/>
                <a:cs typeface="Calibri" pitchFamily="34" charset="-120"/>
              </a:rPr>
              <a:t>TCP + threads</a:t>
            </a:r>
            <a:endParaRPr lang="en-US" sz="1300" dirty="0"/>
          </a:p>
          <a:p>
            <a:pPr indent="0" marL="0">
              <a:buNone/>
            </a:pPr>
            <a:r>
              <a:rPr lang="en-US" sz="1100" dirty="0">
                <a:solidFill>
                  <a:srgbClr val="667090"/>
                </a:solidFill>
                <a:latin typeface="Calibri" pitchFamily="34" charset="0"/>
                <a:ea typeface="Calibri" pitchFamily="34" charset="-122"/>
                <a:cs typeface="Calibri" pitchFamily="34" charset="-120"/>
              </a:rPr>
              <a:t>Client-server, live monitoring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Problem Statement</a:t>
            </a:r>
            <a:endParaRPr lang="en-US" sz="3000" dirty="0"/>
          </a:p>
        </p:txBody>
      </p:sp>
      <p:sp>
        <p:nvSpPr>
          <p:cNvPr id="5" name="Shape 2"/>
          <p:cNvSpPr/>
          <p:nvPr/>
        </p:nvSpPr>
        <p:spPr>
          <a:xfrm>
            <a:off x="457200" y="1280160"/>
            <a:ext cx="4114800" cy="1051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554480"/>
            <a:ext cx="502920" cy="502920"/>
          </a:xfrm>
          <a:prstGeom prst="ellipse">
            <a:avLst/>
          </a:prstGeom>
          <a:solidFill>
            <a:srgbClr val="BBD3F2"/>
          </a:solidFill>
          <a:ln w="12700">
            <a:solidFill>
              <a:srgbClr val="BBD3F2"/>
            </a:solidFill>
            <a:prstDash val="solid"/>
          </a:ln>
        </p:spPr>
      </p:sp>
      <p:pic>
        <p:nvPicPr>
          <p:cNvPr id="7" name="Image 1" descr="preencoded.png">    </p:cNvPr>
          <p:cNvPicPr>
            <a:picLocks noChangeAspect="1"/>
          </p:cNvPicPr>
          <p:nvPr/>
        </p:nvPicPr>
        <p:blipFill>
          <a:blip r:embed="rId2"/>
          <a:stretch>
            <a:fillRect/>
          </a:stretch>
        </p:blipFill>
        <p:spPr>
          <a:xfrm>
            <a:off x="765810" y="1680210"/>
            <a:ext cx="251460" cy="251460"/>
          </a:xfrm>
          <a:prstGeom prst="rect">
            <a:avLst/>
          </a:prstGeom>
        </p:spPr>
      </p:pic>
      <p:sp>
        <p:nvSpPr>
          <p:cNvPr id="8" name="Text 4"/>
          <p:cNvSpPr txBox="1"/>
          <p:nvPr/>
        </p:nvSpPr>
        <p:spPr>
          <a:xfrm>
            <a:off x="1325880" y="1280160"/>
            <a:ext cx="3108960" cy="1051560"/>
          </a:xfrm>
          <a:prstGeom prst="rect">
            <a:avLst/>
          </a:prstGeom>
          <a:noFill/>
          <a:ln/>
        </p:spPr>
        <p:txBody>
          <a:bodyPr wrap="square" lIns="0" tIns="0" rIns="0" bIns="0" rtlCol="0" anchor="ctr"/>
          <a:lstStyle/>
          <a:p>
            <a:pPr indent="0" marL="0">
              <a:buNone/>
            </a:pPr>
            <a:r>
              <a:rPr lang="en-US" sz="1400" b="1" dirty="0">
                <a:solidFill>
                  <a:srgbClr val="2F3A56"/>
                </a:solidFill>
                <a:latin typeface="Calibri" pitchFamily="34" charset="0"/>
                <a:ea typeface="Calibri" pitchFamily="34" charset="-122"/>
                <a:cs typeface="Calibri" pitchFamily="34" charset="-120"/>
              </a:rPr>
              <a:t>Too many processes</a:t>
            </a:r>
            <a:endParaRPr lang="en-US" sz="1400" dirty="0"/>
          </a:p>
          <a:p>
            <a:pPr indent="0" marL="0">
              <a:buNone/>
            </a:pPr>
            <a:r>
              <a:rPr lang="en-US" sz="1150" dirty="0">
                <a:solidFill>
                  <a:srgbClr val="667090"/>
                </a:solidFill>
                <a:latin typeface="Calibri" pitchFamily="34" charset="0"/>
                <a:ea typeface="Calibri" pitchFamily="34" charset="-122"/>
                <a:cs typeface="Calibri" pitchFamily="34" charset="-120"/>
              </a:rPr>
              <a:t>Hard to observe system activity and resource usage manually.</a:t>
            </a:r>
            <a:endParaRPr lang="en-US" sz="1400" dirty="0"/>
          </a:p>
        </p:txBody>
      </p:sp>
      <p:sp>
        <p:nvSpPr>
          <p:cNvPr id="9" name="Shape 5"/>
          <p:cNvSpPr/>
          <p:nvPr/>
        </p:nvSpPr>
        <p:spPr>
          <a:xfrm>
            <a:off x="457200" y="2468880"/>
            <a:ext cx="4114800" cy="1051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6"/>
          <p:cNvSpPr/>
          <p:nvPr/>
        </p:nvSpPr>
        <p:spPr>
          <a:xfrm>
            <a:off x="640080" y="2743200"/>
            <a:ext cx="502920" cy="502920"/>
          </a:xfrm>
          <a:prstGeom prst="ellipse">
            <a:avLst/>
          </a:prstGeom>
          <a:solidFill>
            <a:srgbClr val="CBE8DA"/>
          </a:solidFill>
          <a:ln w="12700">
            <a:solidFill>
              <a:srgbClr val="CBE8DA"/>
            </a:solidFill>
            <a:prstDash val="solid"/>
          </a:ln>
        </p:spPr>
      </p:sp>
      <p:pic>
        <p:nvPicPr>
          <p:cNvPr id="11" name="Image 2" descr="preencoded.png">    </p:cNvPr>
          <p:cNvPicPr>
            <a:picLocks noChangeAspect="1"/>
          </p:cNvPicPr>
          <p:nvPr/>
        </p:nvPicPr>
        <p:blipFill>
          <a:blip r:embed="rId3"/>
          <a:stretch>
            <a:fillRect/>
          </a:stretch>
        </p:blipFill>
        <p:spPr>
          <a:xfrm>
            <a:off x="765810" y="2868930"/>
            <a:ext cx="251460" cy="251460"/>
          </a:xfrm>
          <a:prstGeom prst="rect">
            <a:avLst/>
          </a:prstGeom>
        </p:spPr>
      </p:pic>
      <p:sp>
        <p:nvSpPr>
          <p:cNvPr id="12" name="Text 7"/>
          <p:cNvSpPr txBox="1"/>
          <p:nvPr/>
        </p:nvSpPr>
        <p:spPr>
          <a:xfrm>
            <a:off x="1325880" y="2468880"/>
            <a:ext cx="3108960" cy="1051560"/>
          </a:xfrm>
          <a:prstGeom prst="rect">
            <a:avLst/>
          </a:prstGeom>
          <a:noFill/>
          <a:ln/>
        </p:spPr>
        <p:txBody>
          <a:bodyPr wrap="square" lIns="0" tIns="0" rIns="0" bIns="0" rtlCol="0" anchor="ctr"/>
          <a:lstStyle/>
          <a:p>
            <a:pPr indent="0" marL="0">
              <a:buNone/>
            </a:pPr>
            <a:r>
              <a:rPr lang="en-US" sz="1400" b="1" dirty="0">
                <a:solidFill>
                  <a:srgbClr val="2F3A56"/>
                </a:solidFill>
                <a:latin typeface="Calibri" pitchFamily="34" charset="0"/>
                <a:ea typeface="Calibri" pitchFamily="34" charset="-122"/>
                <a:cs typeface="Calibri" pitchFamily="34" charset="-120"/>
              </a:rPr>
              <a:t>No clear limits</a:t>
            </a:r>
            <a:endParaRPr lang="en-US" sz="1400" dirty="0"/>
          </a:p>
          <a:p>
            <a:pPr indent="0" marL="0">
              <a:buNone/>
            </a:pPr>
            <a:r>
              <a:rPr lang="en-US" sz="1150" dirty="0">
                <a:solidFill>
                  <a:srgbClr val="667090"/>
                </a:solidFill>
                <a:latin typeface="Calibri" pitchFamily="34" charset="0"/>
                <a:ea typeface="Calibri" pitchFamily="34" charset="-122"/>
                <a:cs typeface="Calibri" pitchFamily="34" charset="-120"/>
              </a:rPr>
              <a:t>Processes may use heavy CPU or memory, run for long, or change state unnoticed.</a:t>
            </a:r>
            <a:endParaRPr lang="en-US" sz="1400" dirty="0"/>
          </a:p>
        </p:txBody>
      </p:sp>
      <p:sp>
        <p:nvSpPr>
          <p:cNvPr id="13" name="Shape 8"/>
          <p:cNvSpPr/>
          <p:nvPr/>
        </p:nvSpPr>
        <p:spPr>
          <a:xfrm>
            <a:off x="457200" y="3657600"/>
            <a:ext cx="4114800" cy="1051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9"/>
          <p:cNvSpPr/>
          <p:nvPr/>
        </p:nvSpPr>
        <p:spPr>
          <a:xfrm>
            <a:off x="640080" y="3931920"/>
            <a:ext cx="502920" cy="502920"/>
          </a:xfrm>
          <a:prstGeom prst="ellipse">
            <a:avLst/>
          </a:prstGeom>
          <a:solidFill>
            <a:srgbClr val="D9D0F2"/>
          </a:solidFill>
          <a:ln w="12700">
            <a:solidFill>
              <a:srgbClr val="D9D0F2"/>
            </a:solidFill>
            <a:prstDash val="solid"/>
          </a:ln>
        </p:spPr>
      </p:sp>
      <p:pic>
        <p:nvPicPr>
          <p:cNvPr id="15" name="Image 3" descr="preencoded.png">    </p:cNvPr>
          <p:cNvPicPr>
            <a:picLocks noChangeAspect="1"/>
          </p:cNvPicPr>
          <p:nvPr/>
        </p:nvPicPr>
        <p:blipFill>
          <a:blip r:embed="rId4"/>
          <a:stretch>
            <a:fillRect/>
          </a:stretch>
        </p:blipFill>
        <p:spPr>
          <a:xfrm>
            <a:off x="765810" y="4057650"/>
            <a:ext cx="251460" cy="251460"/>
          </a:xfrm>
          <a:prstGeom prst="rect">
            <a:avLst/>
          </a:prstGeom>
        </p:spPr>
      </p:pic>
      <p:sp>
        <p:nvSpPr>
          <p:cNvPr id="16" name="Text 10"/>
          <p:cNvSpPr txBox="1"/>
          <p:nvPr/>
        </p:nvSpPr>
        <p:spPr>
          <a:xfrm>
            <a:off x="1325880" y="3657600"/>
            <a:ext cx="3108960" cy="1051560"/>
          </a:xfrm>
          <a:prstGeom prst="rect">
            <a:avLst/>
          </a:prstGeom>
          <a:noFill/>
          <a:ln/>
        </p:spPr>
        <p:txBody>
          <a:bodyPr wrap="square" lIns="0" tIns="0" rIns="0" bIns="0" rtlCol="0" anchor="ctr"/>
          <a:lstStyle/>
          <a:p>
            <a:pPr indent="0" marL="0">
              <a:buNone/>
            </a:pPr>
            <a:r>
              <a:rPr lang="en-US" sz="1400" b="1" dirty="0">
                <a:solidFill>
                  <a:srgbClr val="2F3A56"/>
                </a:solidFill>
                <a:latin typeface="Calibri" pitchFamily="34" charset="0"/>
                <a:ea typeface="Calibri" pitchFamily="34" charset="-122"/>
                <a:cs typeface="Calibri" pitchFamily="34" charset="-120"/>
              </a:rPr>
              <a:t>Scattered tools</a:t>
            </a:r>
            <a:endParaRPr lang="en-US" sz="1400" dirty="0"/>
          </a:p>
          <a:p>
            <a:pPr indent="0" marL="0">
              <a:buNone/>
            </a:pPr>
            <a:r>
              <a:rPr lang="en-US" sz="1150" dirty="0">
                <a:solidFill>
                  <a:srgbClr val="667090"/>
                </a:solidFill>
                <a:latin typeface="Calibri" pitchFamily="34" charset="0"/>
                <a:ea typeface="Calibri" pitchFamily="34" charset="-122"/>
                <a:cs typeface="Calibri" pitchFamily="34" charset="-120"/>
              </a:rPr>
              <a:t>Users must repeat several Linux commands and keep no record of activity.</a:t>
            </a:r>
            <a:endParaRPr lang="en-US" sz="1400" dirty="0"/>
          </a:p>
        </p:txBody>
      </p:sp>
      <p:sp>
        <p:nvSpPr>
          <p:cNvPr id="17" name="Shape 11"/>
          <p:cNvSpPr/>
          <p:nvPr/>
        </p:nvSpPr>
        <p:spPr>
          <a:xfrm>
            <a:off x="4846320" y="1280160"/>
            <a:ext cx="3840480" cy="3429000"/>
          </a:xfrm>
          <a:prstGeom prst="rect">
            <a:avLst/>
          </a:prstGeom>
          <a:solidFill>
            <a:srgbClr val="E3E9F8"/>
          </a:solidFill>
          <a:ln w="12700">
            <a:solidFill>
              <a:srgbClr val="E3E9F8"/>
            </a:solidFill>
            <a:prstDash val="solid"/>
          </a:ln>
        </p:spPr>
      </p:sp>
      <p:sp>
        <p:nvSpPr>
          <p:cNvPr id="18" name="Text 12"/>
          <p:cNvSpPr txBox="1"/>
          <p:nvPr/>
        </p:nvSpPr>
        <p:spPr>
          <a:xfrm>
            <a:off x="5120640" y="1417320"/>
            <a:ext cx="3291840" cy="365760"/>
          </a:xfrm>
          <a:prstGeom prst="rect">
            <a:avLst/>
          </a:prstGeom>
          <a:noFill/>
          <a:ln/>
        </p:spPr>
        <p:txBody>
          <a:bodyPr wrap="square" lIns="0" tIns="0" rIns="0" bIns="0" rtlCol="0" anchor="ctr"/>
          <a:lstStyle/>
          <a:p>
            <a:pPr indent="0" marL="0">
              <a:buNone/>
            </a:pPr>
            <a:r>
              <a:rPr lang="en-US" sz="1800" b="1" dirty="0">
                <a:solidFill>
                  <a:srgbClr val="5B6FB0"/>
                </a:solidFill>
                <a:latin typeface="Cambria" pitchFamily="34" charset="0"/>
                <a:ea typeface="Cambria" pitchFamily="34" charset="-122"/>
                <a:cs typeface="Cambria" pitchFamily="34" charset="-120"/>
              </a:rPr>
              <a:t>Our solution</a:t>
            </a:r>
            <a:endParaRPr lang="en-US" sz="1800" dirty="0"/>
          </a:p>
        </p:txBody>
      </p:sp>
      <p:sp>
        <p:nvSpPr>
          <p:cNvPr id="19" name="Text 13"/>
          <p:cNvSpPr txBox="1"/>
          <p:nvPr/>
        </p:nvSpPr>
        <p:spPr>
          <a:xfrm>
            <a:off x="5120640" y="1874520"/>
            <a:ext cx="338328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F3A56"/>
                </a:solidFill>
                <a:latin typeface="Calibri" pitchFamily="34" charset="0"/>
                <a:ea typeface="Calibri" pitchFamily="34" charset="-122"/>
                <a:cs typeface="Calibri" pitchFamily="34" charset="-120"/>
              </a:rPr>
              <a:t>Reads system and process data directly from /proc</a:t>
            </a:r>
            <a:endParaRPr lang="en-US" sz="1300" dirty="0"/>
          </a:p>
          <a:p>
            <a:pPr marL="342900" indent="-342900">
              <a:spcAft>
                <a:spcPts val="800"/>
              </a:spcAft>
              <a:buSzPct val="100000"/>
              <a:buChar char="•"/>
            </a:pPr>
            <a:r>
              <a:rPr lang="en-US" sz="1300" dirty="0">
                <a:solidFill>
                  <a:srgbClr val="2F3A56"/>
                </a:solidFill>
                <a:latin typeface="Calibri" pitchFamily="34" charset="0"/>
                <a:ea typeface="Calibri" pitchFamily="34" charset="-122"/>
                <a:cs typeface="Calibri" pitchFamily="34" charset="-120"/>
              </a:rPr>
              <a:t>Warns when CPU or memory thresholds are exceeded</a:t>
            </a:r>
            <a:endParaRPr lang="en-US" sz="1300" dirty="0"/>
          </a:p>
          <a:p>
            <a:pPr marL="342900" indent="-342900">
              <a:spcAft>
                <a:spcPts val="800"/>
              </a:spcAft>
              <a:buSzPct val="100000"/>
              <a:buChar char="•"/>
            </a:pPr>
            <a:r>
              <a:rPr lang="en-US" sz="1300" dirty="0">
                <a:solidFill>
                  <a:srgbClr val="2F3A56"/>
                </a:solidFill>
                <a:latin typeface="Calibri" pitchFamily="34" charset="0"/>
                <a:ea typeface="Calibri" pitchFamily="34" charset="-122"/>
                <a:cs typeface="Calibri" pitchFamily="34" charset="-120"/>
              </a:rPr>
              <a:t>Controls processes by PID using signals</a:t>
            </a:r>
            <a:endParaRPr lang="en-US" sz="1300" dirty="0"/>
          </a:p>
          <a:p>
            <a:pPr marL="342900" indent="-342900">
              <a:spcAft>
                <a:spcPts val="800"/>
              </a:spcAft>
              <a:buSzPct val="100000"/>
              <a:buChar char="•"/>
            </a:pPr>
            <a:r>
              <a:rPr lang="en-US" sz="1300" dirty="0">
                <a:solidFill>
                  <a:srgbClr val="2F3A56"/>
                </a:solidFill>
                <a:latin typeface="Calibri" pitchFamily="34" charset="0"/>
                <a:ea typeface="Calibri" pitchFamily="34" charset="-122"/>
                <a:cs typeface="Calibri" pitchFamily="34" charset="-120"/>
              </a:rPr>
              <a:t>Tracks new and terminated processes and keeps logs</a:t>
            </a:r>
            <a:endParaRPr lang="en-US" sz="1300" dirty="0"/>
          </a:p>
          <a:p>
            <a:pPr marL="342900" indent="-342900">
              <a:spcAft>
                <a:spcPts val="800"/>
              </a:spcAft>
              <a:buSzPct val="100000"/>
              <a:buChar char="•"/>
            </a:pPr>
            <a:r>
              <a:rPr lang="en-US" sz="1300" dirty="0">
                <a:solidFill>
                  <a:srgbClr val="2F3A56"/>
                </a:solidFill>
                <a:latin typeface="Calibri" pitchFamily="34" charset="0"/>
                <a:ea typeface="Calibri" pitchFamily="34" charset="-122"/>
                <a:cs typeface="Calibri" pitchFamily="34" charset="-120"/>
              </a:rPr>
              <a:t>TCP client-server with POSIX threads for continuous monitoring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Objectives</a:t>
            </a:r>
            <a:endParaRPr lang="en-US" sz="3000" dirty="0"/>
          </a:p>
        </p:txBody>
      </p:sp>
      <p:sp>
        <p:nvSpPr>
          <p:cNvPr id="5" name="Shape 2"/>
          <p:cNvSpPr/>
          <p:nvPr/>
        </p:nvSpPr>
        <p:spPr>
          <a:xfrm>
            <a:off x="457200" y="1234440"/>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530352" y="1289304"/>
            <a:ext cx="310896" cy="310896"/>
          </a:xfrm>
          <a:prstGeom prst="ellipse">
            <a:avLst/>
          </a:prstGeom>
          <a:solidFill>
            <a:srgbClr val="BBD3F2"/>
          </a:solidFill>
          <a:ln w="12700">
            <a:solidFill>
              <a:srgbClr val="BBD3F2"/>
            </a:solidFill>
            <a:prstDash val="solid"/>
          </a:ln>
        </p:spPr>
      </p:sp>
      <p:sp>
        <p:nvSpPr>
          <p:cNvPr id="7" name="Text 4"/>
          <p:cNvSpPr txBox="1"/>
          <p:nvPr/>
        </p:nvSpPr>
        <p:spPr>
          <a:xfrm>
            <a:off x="530352" y="1289304"/>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1</a:t>
            </a:r>
            <a:endParaRPr lang="en-US" sz="1100" dirty="0"/>
          </a:p>
        </p:txBody>
      </p:sp>
      <p:sp>
        <p:nvSpPr>
          <p:cNvPr id="8" name="Text 5"/>
          <p:cNvSpPr txBox="1"/>
          <p:nvPr/>
        </p:nvSpPr>
        <p:spPr>
          <a:xfrm>
            <a:off x="960120" y="1234440"/>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Monitor running Linux processes and their states</a:t>
            </a:r>
            <a:endParaRPr lang="en-US" sz="1150" dirty="0"/>
          </a:p>
        </p:txBody>
      </p:sp>
      <p:sp>
        <p:nvSpPr>
          <p:cNvPr id="9" name="Shape 6"/>
          <p:cNvSpPr/>
          <p:nvPr/>
        </p:nvSpPr>
        <p:spPr>
          <a:xfrm>
            <a:off x="457200" y="1728216"/>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530352" y="1783080"/>
            <a:ext cx="310896" cy="310896"/>
          </a:xfrm>
          <a:prstGeom prst="ellipse">
            <a:avLst/>
          </a:prstGeom>
          <a:solidFill>
            <a:srgbClr val="BBD3F2"/>
          </a:solidFill>
          <a:ln w="12700">
            <a:solidFill>
              <a:srgbClr val="BBD3F2"/>
            </a:solidFill>
            <a:prstDash val="solid"/>
          </a:ln>
        </p:spPr>
      </p:sp>
      <p:sp>
        <p:nvSpPr>
          <p:cNvPr id="11" name="Text 8"/>
          <p:cNvSpPr txBox="1"/>
          <p:nvPr/>
        </p:nvSpPr>
        <p:spPr>
          <a:xfrm>
            <a:off x="530352" y="1783080"/>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2</a:t>
            </a:r>
            <a:endParaRPr lang="en-US" sz="1100" dirty="0"/>
          </a:p>
        </p:txBody>
      </p:sp>
      <p:sp>
        <p:nvSpPr>
          <p:cNvPr id="12" name="Text 9"/>
          <p:cNvSpPr txBox="1"/>
          <p:nvPr/>
        </p:nvSpPr>
        <p:spPr>
          <a:xfrm>
            <a:off x="960120" y="1728216"/>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Collect and display CPU and memory usage</a:t>
            </a:r>
            <a:endParaRPr lang="en-US" sz="1150" dirty="0"/>
          </a:p>
        </p:txBody>
      </p:sp>
      <p:sp>
        <p:nvSpPr>
          <p:cNvPr id="13" name="Shape 10"/>
          <p:cNvSpPr/>
          <p:nvPr/>
        </p:nvSpPr>
        <p:spPr>
          <a:xfrm>
            <a:off x="457200" y="2221992"/>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4" name="Shape 11"/>
          <p:cNvSpPr/>
          <p:nvPr/>
        </p:nvSpPr>
        <p:spPr>
          <a:xfrm>
            <a:off x="530352" y="2276856"/>
            <a:ext cx="310896" cy="310896"/>
          </a:xfrm>
          <a:prstGeom prst="ellipse">
            <a:avLst/>
          </a:prstGeom>
          <a:solidFill>
            <a:srgbClr val="BBD3F2"/>
          </a:solidFill>
          <a:ln w="12700">
            <a:solidFill>
              <a:srgbClr val="BBD3F2"/>
            </a:solidFill>
            <a:prstDash val="solid"/>
          </a:ln>
        </p:spPr>
      </p:sp>
      <p:sp>
        <p:nvSpPr>
          <p:cNvPr id="15" name="Text 12"/>
          <p:cNvSpPr txBox="1"/>
          <p:nvPr/>
        </p:nvSpPr>
        <p:spPr>
          <a:xfrm>
            <a:off x="530352" y="2276856"/>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3</a:t>
            </a:r>
            <a:endParaRPr lang="en-US" sz="1100" dirty="0"/>
          </a:p>
        </p:txBody>
      </p:sp>
      <p:sp>
        <p:nvSpPr>
          <p:cNvPr id="16" name="Text 13"/>
          <p:cNvSpPr txBox="1"/>
          <p:nvPr/>
        </p:nvSpPr>
        <p:spPr>
          <a:xfrm>
            <a:off x="960120" y="2221992"/>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Read system and process data from /proc</a:t>
            </a:r>
            <a:endParaRPr lang="en-US" sz="1150" dirty="0"/>
          </a:p>
        </p:txBody>
      </p:sp>
      <p:sp>
        <p:nvSpPr>
          <p:cNvPr id="17" name="Shape 14"/>
          <p:cNvSpPr/>
          <p:nvPr/>
        </p:nvSpPr>
        <p:spPr>
          <a:xfrm>
            <a:off x="457200" y="2715768"/>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8" name="Shape 15"/>
          <p:cNvSpPr/>
          <p:nvPr/>
        </p:nvSpPr>
        <p:spPr>
          <a:xfrm>
            <a:off x="530352" y="2770632"/>
            <a:ext cx="310896" cy="310896"/>
          </a:xfrm>
          <a:prstGeom prst="ellipse">
            <a:avLst/>
          </a:prstGeom>
          <a:solidFill>
            <a:srgbClr val="BBD3F2"/>
          </a:solidFill>
          <a:ln w="12700">
            <a:solidFill>
              <a:srgbClr val="BBD3F2"/>
            </a:solidFill>
            <a:prstDash val="solid"/>
          </a:ln>
        </p:spPr>
      </p:sp>
      <p:sp>
        <p:nvSpPr>
          <p:cNvPr id="19" name="Text 16"/>
          <p:cNvSpPr txBox="1"/>
          <p:nvPr/>
        </p:nvSpPr>
        <p:spPr>
          <a:xfrm>
            <a:off x="530352" y="2770632"/>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4</a:t>
            </a:r>
            <a:endParaRPr lang="en-US" sz="1100" dirty="0"/>
          </a:p>
        </p:txBody>
      </p:sp>
      <p:sp>
        <p:nvSpPr>
          <p:cNvPr id="20" name="Text 17"/>
          <p:cNvSpPr txBox="1"/>
          <p:nvPr/>
        </p:nvSpPr>
        <p:spPr>
          <a:xfrm>
            <a:off x="960120" y="2715768"/>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Display CPU details, disk usage and uptime</a:t>
            </a:r>
            <a:endParaRPr lang="en-US" sz="1150" dirty="0"/>
          </a:p>
        </p:txBody>
      </p:sp>
      <p:sp>
        <p:nvSpPr>
          <p:cNvPr id="21" name="Shape 18"/>
          <p:cNvSpPr/>
          <p:nvPr/>
        </p:nvSpPr>
        <p:spPr>
          <a:xfrm>
            <a:off x="457200" y="3209544"/>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9"/>
          <p:cNvSpPr/>
          <p:nvPr/>
        </p:nvSpPr>
        <p:spPr>
          <a:xfrm>
            <a:off x="530352" y="3264408"/>
            <a:ext cx="310896" cy="310896"/>
          </a:xfrm>
          <a:prstGeom prst="ellipse">
            <a:avLst/>
          </a:prstGeom>
          <a:solidFill>
            <a:srgbClr val="BBD3F2"/>
          </a:solidFill>
          <a:ln w="12700">
            <a:solidFill>
              <a:srgbClr val="BBD3F2"/>
            </a:solidFill>
            <a:prstDash val="solid"/>
          </a:ln>
        </p:spPr>
      </p:sp>
      <p:sp>
        <p:nvSpPr>
          <p:cNvPr id="23" name="Text 20"/>
          <p:cNvSpPr txBox="1"/>
          <p:nvPr/>
        </p:nvSpPr>
        <p:spPr>
          <a:xfrm>
            <a:off x="530352" y="3264408"/>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5</a:t>
            </a:r>
            <a:endParaRPr lang="en-US" sz="1100" dirty="0"/>
          </a:p>
        </p:txBody>
      </p:sp>
      <p:sp>
        <p:nvSpPr>
          <p:cNvPr id="24" name="Text 21"/>
          <p:cNvSpPr txBox="1"/>
          <p:nvPr/>
        </p:nvSpPr>
        <p:spPr>
          <a:xfrm>
            <a:off x="960120" y="3209544"/>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Configure CPU and memory thresholds</a:t>
            </a:r>
            <a:endParaRPr lang="en-US" sz="1150" dirty="0"/>
          </a:p>
        </p:txBody>
      </p:sp>
      <p:sp>
        <p:nvSpPr>
          <p:cNvPr id="25" name="Shape 22"/>
          <p:cNvSpPr/>
          <p:nvPr/>
        </p:nvSpPr>
        <p:spPr>
          <a:xfrm>
            <a:off x="457200" y="3703320"/>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3"/>
          <p:cNvSpPr/>
          <p:nvPr/>
        </p:nvSpPr>
        <p:spPr>
          <a:xfrm>
            <a:off x="530352" y="3758184"/>
            <a:ext cx="310896" cy="310896"/>
          </a:xfrm>
          <a:prstGeom prst="ellipse">
            <a:avLst/>
          </a:prstGeom>
          <a:solidFill>
            <a:srgbClr val="BBD3F2"/>
          </a:solidFill>
          <a:ln w="12700">
            <a:solidFill>
              <a:srgbClr val="BBD3F2"/>
            </a:solidFill>
            <a:prstDash val="solid"/>
          </a:ln>
        </p:spPr>
      </p:sp>
      <p:sp>
        <p:nvSpPr>
          <p:cNvPr id="27" name="Text 24"/>
          <p:cNvSpPr txBox="1"/>
          <p:nvPr/>
        </p:nvSpPr>
        <p:spPr>
          <a:xfrm>
            <a:off x="530352" y="3758184"/>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6</a:t>
            </a:r>
            <a:endParaRPr lang="en-US" sz="1100" dirty="0"/>
          </a:p>
        </p:txBody>
      </p:sp>
      <p:sp>
        <p:nvSpPr>
          <p:cNvPr id="28" name="Text 25"/>
          <p:cNvSpPr txBox="1"/>
          <p:nvPr/>
        </p:nvSpPr>
        <p:spPr>
          <a:xfrm>
            <a:off x="960120" y="3703320"/>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Warn when usage exceeds the thresholds</a:t>
            </a:r>
            <a:endParaRPr lang="en-US" sz="1150" dirty="0"/>
          </a:p>
        </p:txBody>
      </p:sp>
      <p:sp>
        <p:nvSpPr>
          <p:cNvPr id="29" name="Shape 26"/>
          <p:cNvSpPr/>
          <p:nvPr/>
        </p:nvSpPr>
        <p:spPr>
          <a:xfrm>
            <a:off x="457200" y="4197096"/>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0" name="Shape 27"/>
          <p:cNvSpPr/>
          <p:nvPr/>
        </p:nvSpPr>
        <p:spPr>
          <a:xfrm>
            <a:off x="530352" y="4251960"/>
            <a:ext cx="310896" cy="310896"/>
          </a:xfrm>
          <a:prstGeom prst="ellipse">
            <a:avLst/>
          </a:prstGeom>
          <a:solidFill>
            <a:srgbClr val="BBD3F2"/>
          </a:solidFill>
          <a:ln w="12700">
            <a:solidFill>
              <a:srgbClr val="BBD3F2"/>
            </a:solidFill>
            <a:prstDash val="solid"/>
          </a:ln>
        </p:spPr>
      </p:sp>
      <p:sp>
        <p:nvSpPr>
          <p:cNvPr id="31" name="Text 28"/>
          <p:cNvSpPr txBox="1"/>
          <p:nvPr/>
        </p:nvSpPr>
        <p:spPr>
          <a:xfrm>
            <a:off x="530352" y="4251960"/>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7</a:t>
            </a:r>
            <a:endParaRPr lang="en-US" sz="1100" dirty="0"/>
          </a:p>
        </p:txBody>
      </p:sp>
      <p:sp>
        <p:nvSpPr>
          <p:cNvPr id="32" name="Text 29"/>
          <p:cNvSpPr txBox="1"/>
          <p:nvPr/>
        </p:nvSpPr>
        <p:spPr>
          <a:xfrm>
            <a:off x="960120" y="4197096"/>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Control processes using Linux signals</a:t>
            </a:r>
            <a:endParaRPr lang="en-US" sz="1150" dirty="0"/>
          </a:p>
        </p:txBody>
      </p:sp>
      <p:sp>
        <p:nvSpPr>
          <p:cNvPr id="33" name="Shape 30"/>
          <p:cNvSpPr/>
          <p:nvPr/>
        </p:nvSpPr>
        <p:spPr>
          <a:xfrm>
            <a:off x="4754880" y="1234440"/>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4" name="Shape 31"/>
          <p:cNvSpPr/>
          <p:nvPr/>
        </p:nvSpPr>
        <p:spPr>
          <a:xfrm>
            <a:off x="4828032" y="1289304"/>
            <a:ext cx="310896" cy="310896"/>
          </a:xfrm>
          <a:prstGeom prst="ellipse">
            <a:avLst/>
          </a:prstGeom>
          <a:solidFill>
            <a:srgbClr val="BBD3F2"/>
          </a:solidFill>
          <a:ln w="12700">
            <a:solidFill>
              <a:srgbClr val="BBD3F2"/>
            </a:solidFill>
            <a:prstDash val="solid"/>
          </a:ln>
        </p:spPr>
      </p:sp>
      <p:sp>
        <p:nvSpPr>
          <p:cNvPr id="35" name="Text 32"/>
          <p:cNvSpPr txBox="1"/>
          <p:nvPr/>
        </p:nvSpPr>
        <p:spPr>
          <a:xfrm>
            <a:off x="4828032" y="1289304"/>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8</a:t>
            </a:r>
            <a:endParaRPr lang="en-US" sz="1100" dirty="0"/>
          </a:p>
        </p:txBody>
      </p:sp>
      <p:sp>
        <p:nvSpPr>
          <p:cNvPr id="36" name="Text 33"/>
          <p:cNvSpPr txBox="1"/>
          <p:nvPr/>
        </p:nvSpPr>
        <p:spPr>
          <a:xfrm>
            <a:off x="5257800" y="1234440"/>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Stop, continue or terminate a process by PID</a:t>
            </a:r>
            <a:endParaRPr lang="en-US" sz="1150" dirty="0"/>
          </a:p>
        </p:txBody>
      </p:sp>
      <p:sp>
        <p:nvSpPr>
          <p:cNvPr id="37" name="Shape 34"/>
          <p:cNvSpPr/>
          <p:nvPr/>
        </p:nvSpPr>
        <p:spPr>
          <a:xfrm>
            <a:off x="4754880" y="1728216"/>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8" name="Shape 35"/>
          <p:cNvSpPr/>
          <p:nvPr/>
        </p:nvSpPr>
        <p:spPr>
          <a:xfrm>
            <a:off x="4828032" y="1783080"/>
            <a:ext cx="310896" cy="310896"/>
          </a:xfrm>
          <a:prstGeom prst="ellipse">
            <a:avLst/>
          </a:prstGeom>
          <a:solidFill>
            <a:srgbClr val="BBD3F2"/>
          </a:solidFill>
          <a:ln w="12700">
            <a:solidFill>
              <a:srgbClr val="BBD3F2"/>
            </a:solidFill>
            <a:prstDash val="solid"/>
          </a:ln>
        </p:spPr>
      </p:sp>
      <p:sp>
        <p:nvSpPr>
          <p:cNvPr id="39" name="Text 36"/>
          <p:cNvSpPr txBox="1"/>
          <p:nvPr/>
        </p:nvSpPr>
        <p:spPr>
          <a:xfrm>
            <a:off x="4828032" y="1783080"/>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9</a:t>
            </a:r>
            <a:endParaRPr lang="en-US" sz="1100" dirty="0"/>
          </a:p>
        </p:txBody>
      </p:sp>
      <p:sp>
        <p:nvSpPr>
          <p:cNvPr id="40" name="Text 37"/>
          <p:cNvSpPr txBox="1"/>
          <p:nvPr/>
        </p:nvSpPr>
        <p:spPr>
          <a:xfrm>
            <a:off x="5257800" y="1728216"/>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Track newly created and terminated processes</a:t>
            </a:r>
            <a:endParaRPr lang="en-US" sz="1150" dirty="0"/>
          </a:p>
        </p:txBody>
      </p:sp>
      <p:sp>
        <p:nvSpPr>
          <p:cNvPr id="41" name="Shape 38"/>
          <p:cNvSpPr/>
          <p:nvPr/>
        </p:nvSpPr>
        <p:spPr>
          <a:xfrm>
            <a:off x="4754880" y="2221992"/>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2" name="Shape 39"/>
          <p:cNvSpPr/>
          <p:nvPr/>
        </p:nvSpPr>
        <p:spPr>
          <a:xfrm>
            <a:off x="4828032" y="2276856"/>
            <a:ext cx="310896" cy="310896"/>
          </a:xfrm>
          <a:prstGeom prst="ellipse">
            <a:avLst/>
          </a:prstGeom>
          <a:solidFill>
            <a:srgbClr val="BBD3F2"/>
          </a:solidFill>
          <a:ln w="12700">
            <a:solidFill>
              <a:srgbClr val="BBD3F2"/>
            </a:solidFill>
            <a:prstDash val="solid"/>
          </a:ln>
        </p:spPr>
      </p:sp>
      <p:sp>
        <p:nvSpPr>
          <p:cNvPr id="43" name="Text 40"/>
          <p:cNvSpPr txBox="1"/>
          <p:nvPr/>
        </p:nvSpPr>
        <p:spPr>
          <a:xfrm>
            <a:off x="4828032" y="2276856"/>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10</a:t>
            </a:r>
            <a:endParaRPr lang="en-US" sz="1100" dirty="0"/>
          </a:p>
        </p:txBody>
      </p:sp>
      <p:sp>
        <p:nvSpPr>
          <p:cNvPr id="44" name="Text 41"/>
          <p:cNvSpPr txBox="1"/>
          <p:nvPr/>
        </p:nvSpPr>
        <p:spPr>
          <a:xfrm>
            <a:off x="5257800" y="2221992"/>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Maintain logs of important activities</a:t>
            </a:r>
            <a:endParaRPr lang="en-US" sz="1150" dirty="0"/>
          </a:p>
        </p:txBody>
      </p:sp>
      <p:sp>
        <p:nvSpPr>
          <p:cNvPr id="45" name="Shape 42"/>
          <p:cNvSpPr/>
          <p:nvPr/>
        </p:nvSpPr>
        <p:spPr>
          <a:xfrm>
            <a:off x="4754880" y="2715768"/>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6" name="Shape 43"/>
          <p:cNvSpPr/>
          <p:nvPr/>
        </p:nvSpPr>
        <p:spPr>
          <a:xfrm>
            <a:off x="4828032" y="2770632"/>
            <a:ext cx="310896" cy="310896"/>
          </a:xfrm>
          <a:prstGeom prst="ellipse">
            <a:avLst/>
          </a:prstGeom>
          <a:solidFill>
            <a:srgbClr val="BBD3F2"/>
          </a:solidFill>
          <a:ln w="12700">
            <a:solidFill>
              <a:srgbClr val="BBD3F2"/>
            </a:solidFill>
            <a:prstDash val="solid"/>
          </a:ln>
        </p:spPr>
      </p:sp>
      <p:sp>
        <p:nvSpPr>
          <p:cNvPr id="47" name="Text 44"/>
          <p:cNvSpPr txBox="1"/>
          <p:nvPr/>
        </p:nvSpPr>
        <p:spPr>
          <a:xfrm>
            <a:off x="4828032" y="2770632"/>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11</a:t>
            </a:r>
            <a:endParaRPr lang="en-US" sz="1100" dirty="0"/>
          </a:p>
        </p:txBody>
      </p:sp>
      <p:sp>
        <p:nvSpPr>
          <p:cNvPr id="48" name="Text 45"/>
          <p:cNvSpPr txBox="1"/>
          <p:nvPr/>
        </p:nvSpPr>
        <p:spPr>
          <a:xfrm>
            <a:off x="5257800" y="2715768"/>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Provide continuous monitoring with POSIX threads</a:t>
            </a:r>
            <a:endParaRPr lang="en-US" sz="1150" dirty="0"/>
          </a:p>
        </p:txBody>
      </p:sp>
      <p:sp>
        <p:nvSpPr>
          <p:cNvPr id="49" name="Shape 46"/>
          <p:cNvSpPr/>
          <p:nvPr/>
        </p:nvSpPr>
        <p:spPr>
          <a:xfrm>
            <a:off x="4754880" y="3209544"/>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0" name="Shape 47"/>
          <p:cNvSpPr/>
          <p:nvPr/>
        </p:nvSpPr>
        <p:spPr>
          <a:xfrm>
            <a:off x="4828032" y="3264408"/>
            <a:ext cx="310896" cy="310896"/>
          </a:xfrm>
          <a:prstGeom prst="ellipse">
            <a:avLst/>
          </a:prstGeom>
          <a:solidFill>
            <a:srgbClr val="BBD3F2"/>
          </a:solidFill>
          <a:ln w="12700">
            <a:solidFill>
              <a:srgbClr val="BBD3F2"/>
            </a:solidFill>
            <a:prstDash val="solid"/>
          </a:ln>
        </p:spPr>
      </p:sp>
      <p:sp>
        <p:nvSpPr>
          <p:cNvPr id="51" name="Text 48"/>
          <p:cNvSpPr txBox="1"/>
          <p:nvPr/>
        </p:nvSpPr>
        <p:spPr>
          <a:xfrm>
            <a:off x="4828032" y="3264408"/>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12</a:t>
            </a:r>
            <a:endParaRPr lang="en-US" sz="1100" dirty="0"/>
          </a:p>
        </p:txBody>
      </p:sp>
      <p:sp>
        <p:nvSpPr>
          <p:cNvPr id="52" name="Text 49"/>
          <p:cNvSpPr txBox="1"/>
          <p:nvPr/>
        </p:nvSpPr>
        <p:spPr>
          <a:xfrm>
            <a:off x="5257800" y="3209544"/>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Enable client-server communication over TCP sockets</a:t>
            </a:r>
            <a:endParaRPr lang="en-US" sz="1150" dirty="0"/>
          </a:p>
        </p:txBody>
      </p:sp>
      <p:sp>
        <p:nvSpPr>
          <p:cNvPr id="53" name="Shape 50"/>
          <p:cNvSpPr/>
          <p:nvPr/>
        </p:nvSpPr>
        <p:spPr>
          <a:xfrm>
            <a:off x="4754880" y="3703320"/>
            <a:ext cx="3931920" cy="420624"/>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4" name="Shape 51"/>
          <p:cNvSpPr/>
          <p:nvPr/>
        </p:nvSpPr>
        <p:spPr>
          <a:xfrm>
            <a:off x="4828032" y="3758184"/>
            <a:ext cx="310896" cy="310896"/>
          </a:xfrm>
          <a:prstGeom prst="ellipse">
            <a:avLst/>
          </a:prstGeom>
          <a:solidFill>
            <a:srgbClr val="BBD3F2"/>
          </a:solidFill>
          <a:ln w="12700">
            <a:solidFill>
              <a:srgbClr val="BBD3F2"/>
            </a:solidFill>
            <a:prstDash val="solid"/>
          </a:ln>
        </p:spPr>
      </p:sp>
      <p:sp>
        <p:nvSpPr>
          <p:cNvPr id="55" name="Text 52"/>
          <p:cNvSpPr txBox="1"/>
          <p:nvPr/>
        </p:nvSpPr>
        <p:spPr>
          <a:xfrm>
            <a:off x="4828032" y="3758184"/>
            <a:ext cx="310896" cy="310896"/>
          </a:xfrm>
          <a:prstGeom prst="rect">
            <a:avLst/>
          </a:prstGeom>
          <a:noFill/>
          <a:ln/>
        </p:spPr>
        <p:txBody>
          <a:bodyPr wrap="square" lIns="0" tIns="0" rIns="0" bIns="0" rtlCol="0" anchor="ctr"/>
          <a:lstStyle/>
          <a:p>
            <a:pPr algn="ctr" indent="0" marL="0">
              <a:buNone/>
            </a:pPr>
            <a:r>
              <a:rPr lang="en-US" sz="1100" b="1" dirty="0">
                <a:solidFill>
                  <a:srgbClr val="2F3A56"/>
                </a:solidFill>
                <a:latin typeface="Calibri" pitchFamily="34" charset="0"/>
                <a:ea typeface="Calibri" pitchFamily="34" charset="-122"/>
                <a:cs typeface="Calibri" pitchFamily="34" charset="-120"/>
              </a:rPr>
              <a:t>13</a:t>
            </a:r>
            <a:endParaRPr lang="en-US" sz="1100" dirty="0"/>
          </a:p>
        </p:txBody>
      </p:sp>
      <p:sp>
        <p:nvSpPr>
          <p:cNvPr id="56" name="Text 53"/>
          <p:cNvSpPr txBox="1"/>
          <p:nvPr/>
        </p:nvSpPr>
        <p:spPr>
          <a:xfrm>
            <a:off x="5257800" y="3703320"/>
            <a:ext cx="3337560" cy="420624"/>
          </a:xfrm>
          <a:prstGeom prst="rect">
            <a:avLst/>
          </a:prstGeom>
          <a:noFill/>
          <a:ln/>
        </p:spPr>
        <p:txBody>
          <a:bodyPr wrap="square" lIns="0" tIns="0" rIns="0" bIns="0" rtlCol="0" anchor="ctr"/>
          <a:lstStyle/>
          <a:p>
            <a:pPr indent="0" marL="0">
              <a:buNone/>
            </a:pPr>
            <a:r>
              <a:rPr lang="en-US" sz="1150" dirty="0">
                <a:solidFill>
                  <a:srgbClr val="2F3A56"/>
                </a:solidFill>
                <a:latin typeface="Calibri" pitchFamily="34" charset="0"/>
                <a:ea typeface="Calibri" pitchFamily="34" charset="-122"/>
                <a:cs typeface="Calibri" pitchFamily="34" charset="-120"/>
              </a:rPr>
              <a:t>Offer a simple command-line interface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Proposed Methodology</a:t>
            </a:r>
            <a:endParaRPr lang="en-US" sz="3000" dirty="0"/>
          </a:p>
        </p:txBody>
      </p:sp>
      <p:sp>
        <p:nvSpPr>
          <p:cNvPr id="5" name="Shape 2"/>
          <p:cNvSpPr/>
          <p:nvPr/>
        </p:nvSpPr>
        <p:spPr>
          <a:xfrm>
            <a:off x="457200" y="1280160"/>
            <a:ext cx="1783080" cy="914400"/>
          </a:xfrm>
          <a:prstGeom prst="roundRect">
            <a:avLst>
              <a:gd name="adj" fmla="val 10000"/>
            </a:avLst>
          </a:prstGeom>
          <a:solidFill>
            <a:srgbClr val="BBD3F2"/>
          </a:solidFill>
          <a:ln w="12700">
            <a:solidFill>
              <a:srgbClr val="BBD3F2"/>
            </a:solidFill>
            <a:prstDash val="solid"/>
          </a:ln>
        </p:spPr>
      </p:sp>
      <p:sp>
        <p:nvSpPr>
          <p:cNvPr id="6" name="Text 3"/>
          <p:cNvSpPr txBox="1"/>
          <p:nvPr/>
        </p:nvSpPr>
        <p:spPr>
          <a:xfrm>
            <a:off x="457200" y="1280160"/>
            <a:ext cx="1783080" cy="914400"/>
          </a:xfrm>
          <a:prstGeom prst="rect">
            <a:avLst/>
          </a:prstGeom>
          <a:noFill/>
          <a:ln/>
        </p:spPr>
        <p:txBody>
          <a:bodyPr wrap="square" lIns="0" tIns="0" rIns="0" bIns="0" rtlCol="0" anchor="ctr"/>
          <a:lstStyle/>
          <a:p>
            <a:pPr algn="ctr" indent="0" marL="0">
              <a:buNone/>
            </a:pPr>
            <a:r>
              <a:rPr lang="en-US" sz="1400" b="1" dirty="0">
                <a:solidFill>
                  <a:srgbClr val="2F3A56"/>
                </a:solidFill>
                <a:latin typeface="Calibri" pitchFamily="34" charset="0"/>
                <a:ea typeface="Calibri" pitchFamily="34" charset="-122"/>
                <a:cs typeface="Calibri" pitchFamily="34" charset="-120"/>
              </a:rPr>
              <a:t>Client</a:t>
            </a:r>
            <a:endParaRPr lang="en-US" sz="1400" dirty="0"/>
          </a:p>
          <a:p>
            <a:pPr algn="ctr" indent="0" marL="0">
              <a:buNone/>
            </a:pPr>
            <a:r>
              <a:rPr lang="en-US" sz="1050" dirty="0">
                <a:solidFill>
                  <a:srgbClr val="667090"/>
                </a:solidFill>
                <a:latin typeface="Calibri" pitchFamily="34" charset="0"/>
                <a:ea typeface="Calibri" pitchFamily="34" charset="-122"/>
                <a:cs typeface="Calibri" pitchFamily="34" charset="-120"/>
              </a:rPr>
              <a:t>Menu-driven CLI</a:t>
            </a:r>
            <a:endParaRPr lang="en-US" sz="1400" dirty="0"/>
          </a:p>
        </p:txBody>
      </p:sp>
      <p:sp>
        <p:nvSpPr>
          <p:cNvPr id="7" name="Shape 4"/>
          <p:cNvSpPr/>
          <p:nvPr/>
        </p:nvSpPr>
        <p:spPr>
          <a:xfrm>
            <a:off x="2286000" y="1627632"/>
            <a:ext cx="274320" cy="219456"/>
          </a:xfrm>
          <a:prstGeom prst="rightArrow">
            <a:avLst/>
          </a:prstGeom>
          <a:solidFill>
            <a:srgbClr val="9AA5C8"/>
          </a:solidFill>
          <a:ln w="12700">
            <a:solidFill>
              <a:srgbClr val="9AA5C8"/>
            </a:solidFill>
            <a:prstDash val="solid"/>
          </a:ln>
        </p:spPr>
      </p:sp>
      <p:sp>
        <p:nvSpPr>
          <p:cNvPr id="8" name="Shape 5"/>
          <p:cNvSpPr/>
          <p:nvPr/>
        </p:nvSpPr>
        <p:spPr>
          <a:xfrm>
            <a:off x="2606040" y="1280160"/>
            <a:ext cx="1783080" cy="914400"/>
          </a:xfrm>
          <a:prstGeom prst="roundRect">
            <a:avLst>
              <a:gd name="adj" fmla="val 10000"/>
            </a:avLst>
          </a:prstGeom>
          <a:solidFill>
            <a:srgbClr val="F6CDBF"/>
          </a:solidFill>
          <a:ln w="12700">
            <a:solidFill>
              <a:srgbClr val="F6CDBF"/>
            </a:solidFill>
            <a:prstDash val="solid"/>
          </a:ln>
        </p:spPr>
      </p:sp>
      <p:sp>
        <p:nvSpPr>
          <p:cNvPr id="9" name="Text 6"/>
          <p:cNvSpPr txBox="1"/>
          <p:nvPr/>
        </p:nvSpPr>
        <p:spPr>
          <a:xfrm>
            <a:off x="2606040" y="1280160"/>
            <a:ext cx="1783080" cy="914400"/>
          </a:xfrm>
          <a:prstGeom prst="rect">
            <a:avLst/>
          </a:prstGeom>
          <a:noFill/>
          <a:ln/>
        </p:spPr>
        <p:txBody>
          <a:bodyPr wrap="square" lIns="0" tIns="0" rIns="0" bIns="0" rtlCol="0" anchor="ctr"/>
          <a:lstStyle/>
          <a:p>
            <a:pPr algn="ctr" indent="0" marL="0">
              <a:buNone/>
            </a:pPr>
            <a:r>
              <a:rPr lang="en-US" sz="1400" b="1" dirty="0">
                <a:solidFill>
                  <a:srgbClr val="2F3A56"/>
                </a:solidFill>
                <a:latin typeface="Calibri" pitchFamily="34" charset="0"/>
                <a:ea typeface="Calibri" pitchFamily="34" charset="-122"/>
                <a:cs typeface="Calibri" pitchFamily="34" charset="-120"/>
              </a:rPr>
              <a:t>TCP Socket</a:t>
            </a:r>
            <a:endParaRPr lang="en-US" sz="1400" dirty="0"/>
          </a:p>
          <a:p>
            <a:pPr algn="ctr" indent="0" marL="0">
              <a:buNone/>
            </a:pPr>
            <a:r>
              <a:rPr lang="en-US" sz="1050" dirty="0">
                <a:solidFill>
                  <a:srgbClr val="667090"/>
                </a:solidFill>
                <a:latin typeface="Calibri" pitchFamily="34" charset="0"/>
                <a:ea typeface="Calibri" pitchFamily="34" charset="-122"/>
                <a:cs typeface="Calibri" pitchFamily="34" charset="-120"/>
              </a:rPr>
              <a:t>Commands and results</a:t>
            </a:r>
            <a:endParaRPr lang="en-US" sz="1400" dirty="0"/>
          </a:p>
        </p:txBody>
      </p:sp>
      <p:sp>
        <p:nvSpPr>
          <p:cNvPr id="10" name="Shape 7"/>
          <p:cNvSpPr/>
          <p:nvPr/>
        </p:nvSpPr>
        <p:spPr>
          <a:xfrm>
            <a:off x="4434840" y="1627632"/>
            <a:ext cx="274320" cy="219456"/>
          </a:xfrm>
          <a:prstGeom prst="rightArrow">
            <a:avLst/>
          </a:prstGeom>
          <a:solidFill>
            <a:srgbClr val="9AA5C8"/>
          </a:solidFill>
          <a:ln w="12700">
            <a:solidFill>
              <a:srgbClr val="9AA5C8"/>
            </a:solidFill>
            <a:prstDash val="solid"/>
          </a:ln>
        </p:spPr>
      </p:sp>
      <p:sp>
        <p:nvSpPr>
          <p:cNvPr id="11" name="Shape 8"/>
          <p:cNvSpPr/>
          <p:nvPr/>
        </p:nvSpPr>
        <p:spPr>
          <a:xfrm>
            <a:off x="4754880" y="1280160"/>
            <a:ext cx="1783080" cy="914400"/>
          </a:xfrm>
          <a:prstGeom prst="roundRect">
            <a:avLst>
              <a:gd name="adj" fmla="val 10000"/>
            </a:avLst>
          </a:prstGeom>
          <a:solidFill>
            <a:srgbClr val="CBE8DA"/>
          </a:solidFill>
          <a:ln w="12700">
            <a:solidFill>
              <a:srgbClr val="CBE8DA"/>
            </a:solidFill>
            <a:prstDash val="solid"/>
          </a:ln>
        </p:spPr>
      </p:sp>
      <p:sp>
        <p:nvSpPr>
          <p:cNvPr id="12" name="Text 9"/>
          <p:cNvSpPr txBox="1"/>
          <p:nvPr/>
        </p:nvSpPr>
        <p:spPr>
          <a:xfrm>
            <a:off x="4754880" y="1280160"/>
            <a:ext cx="1783080" cy="914400"/>
          </a:xfrm>
          <a:prstGeom prst="rect">
            <a:avLst/>
          </a:prstGeom>
          <a:noFill/>
          <a:ln/>
        </p:spPr>
        <p:txBody>
          <a:bodyPr wrap="square" lIns="0" tIns="0" rIns="0" bIns="0" rtlCol="0" anchor="ctr"/>
          <a:lstStyle/>
          <a:p>
            <a:pPr algn="ctr" indent="0" marL="0">
              <a:buNone/>
            </a:pPr>
            <a:r>
              <a:rPr lang="en-US" sz="1400" b="1" dirty="0">
                <a:solidFill>
                  <a:srgbClr val="2F3A56"/>
                </a:solidFill>
                <a:latin typeface="Calibri" pitchFamily="34" charset="0"/>
                <a:ea typeface="Calibri" pitchFamily="34" charset="-122"/>
                <a:cs typeface="Calibri" pitchFamily="34" charset="-120"/>
              </a:rPr>
              <a:t>Monitoring Server</a:t>
            </a:r>
            <a:endParaRPr lang="en-US" sz="1400" dirty="0"/>
          </a:p>
          <a:p>
            <a:pPr algn="ctr" indent="0" marL="0">
              <a:buNone/>
            </a:pPr>
            <a:r>
              <a:rPr lang="en-US" sz="1050" dirty="0">
                <a:solidFill>
                  <a:srgbClr val="667090"/>
                </a:solidFill>
                <a:latin typeface="Calibri" pitchFamily="34" charset="0"/>
                <a:ea typeface="Calibri" pitchFamily="34" charset="-122"/>
                <a:cs typeface="Calibri" pitchFamily="34" charset="-120"/>
              </a:rPr>
              <a:t>Collects and controls</a:t>
            </a:r>
            <a:endParaRPr lang="en-US" sz="1400" dirty="0"/>
          </a:p>
        </p:txBody>
      </p:sp>
      <p:sp>
        <p:nvSpPr>
          <p:cNvPr id="13" name="Shape 10"/>
          <p:cNvSpPr/>
          <p:nvPr/>
        </p:nvSpPr>
        <p:spPr>
          <a:xfrm>
            <a:off x="6583680" y="1627632"/>
            <a:ext cx="274320" cy="219456"/>
          </a:xfrm>
          <a:prstGeom prst="rightArrow">
            <a:avLst/>
          </a:prstGeom>
          <a:solidFill>
            <a:srgbClr val="9AA5C8"/>
          </a:solidFill>
          <a:ln w="12700">
            <a:solidFill>
              <a:srgbClr val="9AA5C8"/>
            </a:solidFill>
            <a:prstDash val="solid"/>
          </a:ln>
        </p:spPr>
      </p:sp>
      <p:sp>
        <p:nvSpPr>
          <p:cNvPr id="14" name="Shape 11"/>
          <p:cNvSpPr/>
          <p:nvPr/>
        </p:nvSpPr>
        <p:spPr>
          <a:xfrm>
            <a:off x="6903720" y="1280160"/>
            <a:ext cx="1783080" cy="914400"/>
          </a:xfrm>
          <a:prstGeom prst="roundRect">
            <a:avLst>
              <a:gd name="adj" fmla="val 10000"/>
            </a:avLst>
          </a:prstGeom>
          <a:solidFill>
            <a:srgbClr val="D9D0F2"/>
          </a:solidFill>
          <a:ln w="12700">
            <a:solidFill>
              <a:srgbClr val="D9D0F2"/>
            </a:solidFill>
            <a:prstDash val="solid"/>
          </a:ln>
        </p:spPr>
      </p:sp>
      <p:sp>
        <p:nvSpPr>
          <p:cNvPr id="15" name="Text 12"/>
          <p:cNvSpPr txBox="1"/>
          <p:nvPr/>
        </p:nvSpPr>
        <p:spPr>
          <a:xfrm>
            <a:off x="6903720" y="1280160"/>
            <a:ext cx="1783080" cy="914400"/>
          </a:xfrm>
          <a:prstGeom prst="rect">
            <a:avLst/>
          </a:prstGeom>
          <a:noFill/>
          <a:ln/>
        </p:spPr>
        <p:txBody>
          <a:bodyPr wrap="square" lIns="0" tIns="0" rIns="0" bIns="0" rtlCol="0" anchor="ctr"/>
          <a:lstStyle/>
          <a:p>
            <a:pPr algn="ctr" indent="0" marL="0">
              <a:buNone/>
            </a:pPr>
            <a:r>
              <a:rPr lang="en-US" sz="1400" b="1" dirty="0">
                <a:solidFill>
                  <a:srgbClr val="2F3A56"/>
                </a:solidFill>
                <a:latin typeface="Calibri" pitchFamily="34" charset="0"/>
                <a:ea typeface="Calibri" pitchFamily="34" charset="-122"/>
                <a:cs typeface="Calibri" pitchFamily="34" charset="-120"/>
              </a:rPr>
              <a:t>/proc &amp; System</a:t>
            </a:r>
            <a:endParaRPr lang="en-US" sz="1400" dirty="0"/>
          </a:p>
          <a:p>
            <a:pPr algn="ctr" indent="0" marL="0">
              <a:buNone/>
            </a:pPr>
            <a:r>
              <a:rPr lang="en-US" sz="1050" dirty="0">
                <a:solidFill>
                  <a:srgbClr val="667090"/>
                </a:solidFill>
                <a:latin typeface="Calibri" pitchFamily="34" charset="0"/>
                <a:ea typeface="Calibri" pitchFamily="34" charset="-122"/>
                <a:cs typeface="Calibri" pitchFamily="34" charset="-120"/>
              </a:rPr>
              <a:t>Live OS information</a:t>
            </a:r>
            <a:endParaRPr lang="en-US" sz="1400" dirty="0"/>
          </a:p>
        </p:txBody>
      </p:sp>
      <p:sp>
        <p:nvSpPr>
          <p:cNvPr id="16" name="Shape 13"/>
          <p:cNvSpPr/>
          <p:nvPr/>
        </p:nvSpPr>
        <p:spPr>
          <a:xfrm>
            <a:off x="457200" y="2514600"/>
            <a:ext cx="2651760" cy="2194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640080" y="2670048"/>
            <a:ext cx="457200" cy="457200"/>
          </a:xfrm>
          <a:prstGeom prst="ellipse">
            <a:avLst/>
          </a:prstGeom>
          <a:solidFill>
            <a:srgbClr val="BBD3F2"/>
          </a:solidFill>
          <a:ln w="12700">
            <a:solidFill>
              <a:srgbClr val="BBD3F2"/>
            </a:solidFill>
            <a:prstDash val="solid"/>
          </a:ln>
        </p:spPr>
      </p:sp>
      <p:pic>
        <p:nvPicPr>
          <p:cNvPr id="18" name="Image 1" descr="preencoded.png">    </p:cNvPr>
          <p:cNvPicPr>
            <a:picLocks noChangeAspect="1"/>
          </p:cNvPicPr>
          <p:nvPr/>
        </p:nvPicPr>
        <p:blipFill>
          <a:blip r:embed="rId2"/>
          <a:stretch>
            <a:fillRect/>
          </a:stretch>
        </p:blipFill>
        <p:spPr>
          <a:xfrm>
            <a:off x="754380" y="2784348"/>
            <a:ext cx="228600" cy="228600"/>
          </a:xfrm>
          <a:prstGeom prst="rect">
            <a:avLst/>
          </a:prstGeom>
        </p:spPr>
      </p:pic>
      <p:sp>
        <p:nvSpPr>
          <p:cNvPr id="19" name="Text 15"/>
          <p:cNvSpPr txBox="1"/>
          <p:nvPr/>
        </p:nvSpPr>
        <p:spPr>
          <a:xfrm>
            <a:off x="1234440" y="2670048"/>
            <a:ext cx="173736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Collect &amp; check</a:t>
            </a:r>
            <a:endParaRPr lang="en-US" sz="1400" dirty="0"/>
          </a:p>
        </p:txBody>
      </p:sp>
      <p:sp>
        <p:nvSpPr>
          <p:cNvPr id="20" name="Text 16"/>
          <p:cNvSpPr txBox="1"/>
          <p:nvPr/>
        </p:nvSpPr>
        <p:spPr>
          <a:xfrm>
            <a:off x="640080" y="3246120"/>
            <a:ext cx="233172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CPU, memory, disk and uptime via system interfaces</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Scan /proc for PID, name, state, memory</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Compare usage with thresholds and warn</a:t>
            </a:r>
            <a:endParaRPr lang="en-US" sz="1150" dirty="0"/>
          </a:p>
        </p:txBody>
      </p:sp>
      <p:sp>
        <p:nvSpPr>
          <p:cNvPr id="21" name="Shape 17"/>
          <p:cNvSpPr/>
          <p:nvPr/>
        </p:nvSpPr>
        <p:spPr>
          <a:xfrm>
            <a:off x="3246120" y="2514600"/>
            <a:ext cx="2651760" cy="2194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8"/>
          <p:cNvSpPr/>
          <p:nvPr/>
        </p:nvSpPr>
        <p:spPr>
          <a:xfrm>
            <a:off x="3429000" y="2670048"/>
            <a:ext cx="457200" cy="457200"/>
          </a:xfrm>
          <a:prstGeom prst="ellipse">
            <a:avLst/>
          </a:prstGeom>
          <a:solidFill>
            <a:srgbClr val="CBE8DA"/>
          </a:solidFill>
          <a:ln w="12700">
            <a:solidFill>
              <a:srgbClr val="CBE8DA"/>
            </a:solidFill>
            <a:prstDash val="solid"/>
          </a:ln>
        </p:spPr>
      </p:sp>
      <p:pic>
        <p:nvPicPr>
          <p:cNvPr id="23" name="Image 2" descr="preencoded.png">    </p:cNvPr>
          <p:cNvPicPr>
            <a:picLocks noChangeAspect="1"/>
          </p:cNvPicPr>
          <p:nvPr/>
        </p:nvPicPr>
        <p:blipFill>
          <a:blip r:embed="rId3"/>
          <a:stretch>
            <a:fillRect/>
          </a:stretch>
        </p:blipFill>
        <p:spPr>
          <a:xfrm>
            <a:off x="3543300" y="2784348"/>
            <a:ext cx="228600" cy="228600"/>
          </a:xfrm>
          <a:prstGeom prst="rect">
            <a:avLst/>
          </a:prstGeom>
        </p:spPr>
      </p:pic>
      <p:sp>
        <p:nvSpPr>
          <p:cNvPr id="24" name="Text 19"/>
          <p:cNvSpPr txBox="1"/>
          <p:nvPr/>
        </p:nvSpPr>
        <p:spPr>
          <a:xfrm>
            <a:off x="4023360" y="2670048"/>
            <a:ext cx="173736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Control</a:t>
            </a:r>
            <a:endParaRPr lang="en-US" sz="1400" dirty="0"/>
          </a:p>
        </p:txBody>
      </p:sp>
      <p:sp>
        <p:nvSpPr>
          <p:cNvPr id="25" name="Text 20"/>
          <p:cNvSpPr txBox="1"/>
          <p:nvPr/>
        </p:nvSpPr>
        <p:spPr>
          <a:xfrm>
            <a:off x="3429000" y="3246120"/>
            <a:ext cx="233172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Send SIGSTOP, SIGCONT or SIGTERM with kill()</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Target a process by its PID</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Record each action in the log</a:t>
            </a:r>
            <a:endParaRPr lang="en-US" sz="1150" dirty="0"/>
          </a:p>
        </p:txBody>
      </p:sp>
      <p:sp>
        <p:nvSpPr>
          <p:cNvPr id="26" name="Shape 21"/>
          <p:cNvSpPr/>
          <p:nvPr/>
        </p:nvSpPr>
        <p:spPr>
          <a:xfrm>
            <a:off x="6035040" y="2514600"/>
            <a:ext cx="2651760" cy="219456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7" name="Shape 22"/>
          <p:cNvSpPr/>
          <p:nvPr/>
        </p:nvSpPr>
        <p:spPr>
          <a:xfrm>
            <a:off x="6217920" y="2670048"/>
            <a:ext cx="457200" cy="457200"/>
          </a:xfrm>
          <a:prstGeom prst="ellipse">
            <a:avLst/>
          </a:prstGeom>
          <a:solidFill>
            <a:srgbClr val="D9D0F2"/>
          </a:solidFill>
          <a:ln w="12700">
            <a:solidFill>
              <a:srgbClr val="D9D0F2"/>
            </a:solidFill>
            <a:prstDash val="solid"/>
          </a:ln>
        </p:spPr>
      </p:sp>
      <p:pic>
        <p:nvPicPr>
          <p:cNvPr id="28" name="Image 3" descr="preencoded.png">    </p:cNvPr>
          <p:cNvPicPr>
            <a:picLocks noChangeAspect="1"/>
          </p:cNvPicPr>
          <p:nvPr/>
        </p:nvPicPr>
        <p:blipFill>
          <a:blip r:embed="rId4"/>
          <a:stretch>
            <a:fillRect/>
          </a:stretch>
        </p:blipFill>
        <p:spPr>
          <a:xfrm>
            <a:off x="6332220" y="2784348"/>
            <a:ext cx="228600" cy="228600"/>
          </a:xfrm>
          <a:prstGeom prst="rect">
            <a:avLst/>
          </a:prstGeom>
        </p:spPr>
      </p:pic>
      <p:sp>
        <p:nvSpPr>
          <p:cNvPr id="29" name="Text 23"/>
          <p:cNvSpPr txBox="1"/>
          <p:nvPr/>
        </p:nvSpPr>
        <p:spPr>
          <a:xfrm>
            <a:off x="6812280" y="2670048"/>
            <a:ext cx="173736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Monitor continuously</a:t>
            </a:r>
            <a:endParaRPr lang="en-US" sz="1400" dirty="0"/>
          </a:p>
        </p:txBody>
      </p:sp>
      <p:sp>
        <p:nvSpPr>
          <p:cNvPr id="30" name="Text 24"/>
          <p:cNvSpPr txBox="1"/>
          <p:nvPr/>
        </p:nvSpPr>
        <p:spPr>
          <a:xfrm>
            <a:off x="6217920" y="3246120"/>
            <a:ext cx="2331720" cy="13716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POSIX thread watches process changes</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Detects new and terminated processes</a:t>
            </a:r>
            <a:endParaRPr lang="en-US" sz="1150" dirty="0"/>
          </a:p>
          <a:p>
            <a:pPr marL="342900" indent="-342900">
              <a:spcAft>
                <a:spcPts val="500"/>
              </a:spcAft>
              <a:buSzPct val="100000"/>
              <a:buChar char="•"/>
            </a:pPr>
            <a:r>
              <a:rPr lang="en-US" sz="1150" dirty="0">
                <a:solidFill>
                  <a:srgbClr val="2F3A56"/>
                </a:solidFill>
                <a:latin typeface="Calibri" pitchFamily="34" charset="0"/>
                <a:ea typeface="Calibri" pitchFamily="34" charset="-122"/>
                <a:cs typeface="Calibri" pitchFamily="34" charset="-120"/>
              </a:rPr>
              <a:t>Writes events to monitor.log</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System Calls &amp; OS Concepts Used</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743200"/>
                <a:gridCol w="5486400"/>
              </a:tblGrid>
              <a:tr h="420624">
                <a:tc>
                  <a:txBody>
                    <a:bodyPr/>
                    <a:lstStyle/>
                    <a:p>
                      <a:pPr indent="0" marL="0">
                        <a:buNone/>
                      </a:pPr>
                      <a:r>
                        <a:rPr lang="en-US" sz="1300" b="1" dirty="0">
                          <a:solidFill>
                            <a:srgbClr val="2F3A56"/>
                          </a:solidFill>
                          <a:latin typeface="Calibri" pitchFamily="34" charset="0"/>
                          <a:ea typeface="Calibri" pitchFamily="34" charset="-122"/>
                          <a:cs typeface="Calibri" pitchFamily="34" charset="-120"/>
                        </a:rPr>
                        <a:t>OS Concept / Linux API</a:t>
                      </a:r>
                      <a:endParaRPr lang="en-US" sz="13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BBD3F2"/>
                    </a:solidFill>
                  </a:tcPr>
                </a:tc>
                <a:tc>
                  <a:txBody>
                    <a:bodyPr/>
                    <a:lstStyle/>
                    <a:p>
                      <a:pPr indent="0" marL="0">
                        <a:buNone/>
                      </a:pPr>
                      <a:r>
                        <a:rPr lang="en-US" sz="1300" b="1" dirty="0">
                          <a:solidFill>
                            <a:srgbClr val="2F3A56"/>
                          </a:solidFill>
                          <a:latin typeface="Calibri" pitchFamily="34" charset="0"/>
                          <a:ea typeface="Calibri" pitchFamily="34" charset="-122"/>
                          <a:cs typeface="Calibri" pitchFamily="34" charset="-120"/>
                        </a:rPr>
                        <a:t>Purpose in the Project</a:t>
                      </a:r>
                      <a:endParaRPr lang="en-US" sz="13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BBD3F2"/>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System Calls</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Interact with the OS to get system and process information</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TCP Socket Communication</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Client sends commands; server returns monitoring results</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/proc Filesystem</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Read live CPU, memory and per-process PID, name and state</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Signals (kill())</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Control processes with SIGSTOP, SIGCONT and SIGTERM</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statvfs()</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Get filesystem information to calculate disk usage</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File I/O</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Create and maintain the monitoring log file</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EEF1FA"/>
                    </a:solidFill>
                  </a:tcPr>
                </a:tc>
              </a:tr>
              <a:tr h="420624">
                <a:tc>
                  <a:txBody>
                    <a:bodyPr/>
                    <a:lstStyle/>
                    <a:p>
                      <a:pPr indent="0" marL="0">
                        <a:buNone/>
                      </a:pPr>
                      <a:r>
                        <a:rPr lang="en-US" sz="1200" b="1" dirty="0">
                          <a:solidFill>
                            <a:srgbClr val="2F3A56"/>
                          </a:solidFill>
                          <a:latin typeface="Calibri" pitchFamily="34" charset="0"/>
                          <a:ea typeface="Calibri" pitchFamily="34" charset="-122"/>
                          <a:cs typeface="Calibri" pitchFamily="34" charset="-120"/>
                        </a:rPr>
                        <a:t>POSIX Threads</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c>
                  <a:txBody>
                    <a:bodyPr/>
                    <a:lstStyle/>
                    <a:p>
                      <a:pPr indent="0" marL="0">
                        <a:buNone/>
                      </a:pPr>
                      <a:r>
                        <a:rPr lang="en-US" sz="1200" dirty="0">
                          <a:solidFill>
                            <a:srgbClr val="2F3A56"/>
                          </a:solidFill>
                          <a:latin typeface="Calibri" pitchFamily="34" charset="0"/>
                          <a:ea typeface="Calibri" pitchFamily="34" charset="-122"/>
                          <a:cs typeface="Calibri" pitchFamily="34" charset="-120"/>
                        </a:rPr>
                        <a:t>Monitor continuously while the server handles client requests</a:t>
                      </a:r>
                      <a:endParaRPr lang="en-US" sz="1200" dirty="0">
                        <a:latin typeface="Calibri" charset="0"/>
                        <a:ea typeface="Calibri" charset="0"/>
                        <a:cs typeface="Calibri" charset="0"/>
                      </a:endParaRPr>
                    </a:p>
                  </a:txBody>
                  <a:tcPr marL="109728" marR="109728" marT="0" marB="0" anchor="ctr">
                    <a:lnL w="6350" cap="flat" cmpd="sng" algn="ctr">
                      <a:solidFill>
                        <a:srgbClr val="C5CAE8"/>
                      </a:solidFill>
                      <a:prstDash val="solid"/>
                      <a:round/>
                      <a:headEnd type="none" w="med" len="med"/>
                      <a:tailEnd type="none" w="med" len="med"/>
                    </a:lnL>
                    <a:lnR w="6350" cap="flat" cmpd="sng" algn="ctr">
                      <a:solidFill>
                        <a:srgbClr val="C5CAE8"/>
                      </a:solidFill>
                      <a:prstDash val="solid"/>
                      <a:round/>
                      <a:headEnd type="none" w="med" len="med"/>
                      <a:tailEnd type="none" w="med" len="med"/>
                    </a:lnR>
                    <a:lnT w="6350" cap="flat" cmpd="sng" algn="ctr">
                      <a:solidFill>
                        <a:srgbClr val="C5CAE8"/>
                      </a:solidFill>
                      <a:prstDash val="solid"/>
                      <a:round/>
                      <a:headEnd type="none" w="med" len="med"/>
                      <a:tailEnd type="none" w="med" len="med"/>
                    </a:lnT>
                    <a:lnB w="6350" cap="flat" cmpd="sng" algn="ctr">
                      <a:solidFill>
                        <a:srgbClr val="C5CA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C"/>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Tools / Platforms / Software</a:t>
            </a:r>
            <a:endParaRPr lang="en-US" sz="3000" dirty="0"/>
          </a:p>
        </p:txBody>
      </p:sp>
      <p:sp>
        <p:nvSpPr>
          <p:cNvPr id="5" name="Shape 2"/>
          <p:cNvSpPr/>
          <p:nvPr/>
        </p:nvSpPr>
        <p:spPr>
          <a:xfrm>
            <a:off x="457200" y="1371600"/>
            <a:ext cx="1499616" cy="30175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841248" y="1600200"/>
            <a:ext cx="731520" cy="731520"/>
          </a:xfrm>
          <a:prstGeom prst="ellipse">
            <a:avLst/>
          </a:prstGeom>
          <a:solidFill>
            <a:srgbClr val="BBD3F2"/>
          </a:solidFill>
          <a:ln w="12700">
            <a:solidFill>
              <a:srgbClr val="BBD3F2"/>
            </a:solidFill>
            <a:prstDash val="solid"/>
          </a:ln>
        </p:spPr>
      </p:sp>
      <p:pic>
        <p:nvPicPr>
          <p:cNvPr id="7" name="Image 1" descr="preencoded.png">    </p:cNvPr>
          <p:cNvPicPr>
            <a:picLocks noChangeAspect="1"/>
          </p:cNvPicPr>
          <p:nvPr/>
        </p:nvPicPr>
        <p:blipFill>
          <a:blip r:embed="rId2"/>
          <a:stretch>
            <a:fillRect/>
          </a:stretch>
        </p:blipFill>
        <p:spPr>
          <a:xfrm>
            <a:off x="1024128" y="1783080"/>
            <a:ext cx="365760" cy="365760"/>
          </a:xfrm>
          <a:prstGeom prst="rect">
            <a:avLst/>
          </a:prstGeom>
        </p:spPr>
      </p:pic>
      <p:sp>
        <p:nvSpPr>
          <p:cNvPr id="8" name="Text 4"/>
          <p:cNvSpPr txBox="1"/>
          <p:nvPr/>
        </p:nvSpPr>
        <p:spPr>
          <a:xfrm>
            <a:off x="566928" y="2514600"/>
            <a:ext cx="1280160" cy="502920"/>
          </a:xfrm>
          <a:prstGeom prst="rect">
            <a:avLst/>
          </a:prstGeom>
          <a:noFill/>
          <a:ln/>
        </p:spPr>
        <p:txBody>
          <a:bodyPr wrap="square" lIns="0" tIns="0" rIns="0" bIns="0" rtlCol="0" anchor="ctr"/>
          <a:lstStyle/>
          <a:p>
            <a:pPr algn="ctr" indent="0" marL="0">
              <a:buNone/>
            </a:pPr>
            <a:r>
              <a:rPr lang="en-US" sz="1300" b="1" dirty="0">
                <a:solidFill>
                  <a:srgbClr val="2F3A56"/>
                </a:solidFill>
                <a:latin typeface="Cambria" pitchFamily="34" charset="0"/>
                <a:ea typeface="Cambria" pitchFamily="34" charset="-122"/>
                <a:cs typeface="Cambria" pitchFamily="34" charset="-120"/>
              </a:rPr>
              <a:t>Linux / Ubuntu</a:t>
            </a:r>
            <a:endParaRPr lang="en-US" sz="1300" dirty="0"/>
          </a:p>
        </p:txBody>
      </p:sp>
      <p:sp>
        <p:nvSpPr>
          <p:cNvPr id="9" name="Text 5"/>
          <p:cNvSpPr txBox="1"/>
          <p:nvPr/>
        </p:nvSpPr>
        <p:spPr>
          <a:xfrm>
            <a:off x="594360" y="3063240"/>
            <a:ext cx="1225296" cy="1234440"/>
          </a:xfrm>
          <a:prstGeom prst="rect">
            <a:avLst/>
          </a:prstGeom>
          <a:noFill/>
          <a:ln/>
        </p:spPr>
        <p:txBody>
          <a:bodyPr wrap="square" lIns="0" tIns="0" rIns="0" bIns="0" rtlCol="0" anchor="t"/>
          <a:lstStyle/>
          <a:p>
            <a:pPr algn="ctr" indent="0" marL="0">
              <a:buNone/>
            </a:pPr>
            <a:r>
              <a:rPr lang="en-US" sz="1100" dirty="0">
                <a:solidFill>
                  <a:srgbClr val="667090"/>
                </a:solidFill>
                <a:latin typeface="Calibri" pitchFamily="34" charset="0"/>
                <a:ea typeface="Calibri" pitchFamily="34" charset="-122"/>
                <a:cs typeface="Calibri" pitchFamily="34" charset="-120"/>
              </a:rPr>
              <a:t>Platform for developing, testing and running the tool</a:t>
            </a:r>
            <a:endParaRPr lang="en-US" sz="1100" dirty="0"/>
          </a:p>
        </p:txBody>
      </p:sp>
      <p:sp>
        <p:nvSpPr>
          <p:cNvPr id="10" name="Shape 6"/>
          <p:cNvSpPr/>
          <p:nvPr/>
        </p:nvSpPr>
        <p:spPr>
          <a:xfrm>
            <a:off x="2139696" y="1371600"/>
            <a:ext cx="1499616" cy="30175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2523744" y="1600200"/>
            <a:ext cx="731520" cy="731520"/>
          </a:xfrm>
          <a:prstGeom prst="ellipse">
            <a:avLst/>
          </a:prstGeom>
          <a:solidFill>
            <a:srgbClr val="CBE8DA"/>
          </a:solidFill>
          <a:ln w="12700">
            <a:solidFill>
              <a:srgbClr val="CBE8DA"/>
            </a:solidFill>
            <a:prstDash val="solid"/>
          </a:ln>
        </p:spPr>
      </p:sp>
      <p:pic>
        <p:nvPicPr>
          <p:cNvPr id="12" name="Image 2" descr="preencoded.png">    </p:cNvPr>
          <p:cNvPicPr>
            <a:picLocks noChangeAspect="1"/>
          </p:cNvPicPr>
          <p:nvPr/>
        </p:nvPicPr>
        <p:blipFill>
          <a:blip r:embed="rId3"/>
          <a:stretch>
            <a:fillRect/>
          </a:stretch>
        </p:blipFill>
        <p:spPr>
          <a:xfrm>
            <a:off x="2706624" y="1783080"/>
            <a:ext cx="365760" cy="365760"/>
          </a:xfrm>
          <a:prstGeom prst="rect">
            <a:avLst/>
          </a:prstGeom>
        </p:spPr>
      </p:pic>
      <p:sp>
        <p:nvSpPr>
          <p:cNvPr id="13" name="Text 8"/>
          <p:cNvSpPr txBox="1"/>
          <p:nvPr/>
        </p:nvSpPr>
        <p:spPr>
          <a:xfrm>
            <a:off x="2249424" y="2514600"/>
            <a:ext cx="1280160" cy="502920"/>
          </a:xfrm>
          <a:prstGeom prst="rect">
            <a:avLst/>
          </a:prstGeom>
          <a:noFill/>
          <a:ln/>
        </p:spPr>
        <p:txBody>
          <a:bodyPr wrap="square" lIns="0" tIns="0" rIns="0" bIns="0" rtlCol="0" anchor="ctr"/>
          <a:lstStyle/>
          <a:p>
            <a:pPr algn="ctr" indent="0" marL="0">
              <a:buNone/>
            </a:pPr>
            <a:r>
              <a:rPr lang="en-US" sz="1300" b="1" dirty="0">
                <a:solidFill>
                  <a:srgbClr val="2F3A56"/>
                </a:solidFill>
                <a:latin typeface="Cambria" pitchFamily="34" charset="0"/>
                <a:ea typeface="Cambria" pitchFamily="34" charset="-122"/>
                <a:cs typeface="Cambria" pitchFamily="34" charset="-120"/>
              </a:rPr>
              <a:t>C Language</a:t>
            </a:r>
            <a:endParaRPr lang="en-US" sz="1300" dirty="0"/>
          </a:p>
        </p:txBody>
      </p:sp>
      <p:sp>
        <p:nvSpPr>
          <p:cNvPr id="14" name="Text 9"/>
          <p:cNvSpPr txBox="1"/>
          <p:nvPr/>
        </p:nvSpPr>
        <p:spPr>
          <a:xfrm>
            <a:off x="2276856" y="3063240"/>
            <a:ext cx="1225296" cy="1234440"/>
          </a:xfrm>
          <a:prstGeom prst="rect">
            <a:avLst/>
          </a:prstGeom>
          <a:noFill/>
          <a:ln/>
        </p:spPr>
        <p:txBody>
          <a:bodyPr wrap="square" lIns="0" tIns="0" rIns="0" bIns="0" rtlCol="0" anchor="t"/>
          <a:lstStyle/>
          <a:p>
            <a:pPr algn="ctr" indent="0" marL="0">
              <a:buNone/>
            </a:pPr>
            <a:r>
              <a:rPr lang="en-US" sz="1100" dirty="0">
                <a:solidFill>
                  <a:srgbClr val="667090"/>
                </a:solidFill>
                <a:latin typeface="Calibri" pitchFamily="34" charset="0"/>
                <a:ea typeface="Calibri" pitchFamily="34" charset="-122"/>
                <a:cs typeface="Calibri" pitchFamily="34" charset="-120"/>
              </a:rPr>
              <a:t>Implements monitoring, signalling and logging logic</a:t>
            </a:r>
            <a:endParaRPr lang="en-US" sz="1100" dirty="0"/>
          </a:p>
        </p:txBody>
      </p:sp>
      <p:sp>
        <p:nvSpPr>
          <p:cNvPr id="15" name="Shape 10"/>
          <p:cNvSpPr/>
          <p:nvPr/>
        </p:nvSpPr>
        <p:spPr>
          <a:xfrm>
            <a:off x="3822192" y="1371600"/>
            <a:ext cx="1499616" cy="30175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1"/>
          <p:cNvSpPr/>
          <p:nvPr/>
        </p:nvSpPr>
        <p:spPr>
          <a:xfrm>
            <a:off x="4206240" y="1600200"/>
            <a:ext cx="731520" cy="731520"/>
          </a:xfrm>
          <a:prstGeom prst="ellipse">
            <a:avLst/>
          </a:prstGeom>
          <a:solidFill>
            <a:srgbClr val="D9D0F2"/>
          </a:solidFill>
          <a:ln w="12700">
            <a:solidFill>
              <a:srgbClr val="D9D0F2"/>
            </a:solidFill>
            <a:prstDash val="solid"/>
          </a:ln>
        </p:spPr>
      </p:sp>
      <p:pic>
        <p:nvPicPr>
          <p:cNvPr id="17" name="Image 3" descr="preencoded.png">    </p:cNvPr>
          <p:cNvPicPr>
            <a:picLocks noChangeAspect="1"/>
          </p:cNvPicPr>
          <p:nvPr/>
        </p:nvPicPr>
        <p:blipFill>
          <a:blip r:embed="rId4"/>
          <a:stretch>
            <a:fillRect/>
          </a:stretch>
        </p:blipFill>
        <p:spPr>
          <a:xfrm>
            <a:off x="4389120" y="1783080"/>
            <a:ext cx="365760" cy="365760"/>
          </a:xfrm>
          <a:prstGeom prst="rect">
            <a:avLst/>
          </a:prstGeom>
        </p:spPr>
      </p:pic>
      <p:sp>
        <p:nvSpPr>
          <p:cNvPr id="18" name="Text 12"/>
          <p:cNvSpPr txBox="1"/>
          <p:nvPr/>
        </p:nvSpPr>
        <p:spPr>
          <a:xfrm>
            <a:off x="3931920" y="2514600"/>
            <a:ext cx="1280160" cy="502920"/>
          </a:xfrm>
          <a:prstGeom prst="rect">
            <a:avLst/>
          </a:prstGeom>
          <a:noFill/>
          <a:ln/>
        </p:spPr>
        <p:txBody>
          <a:bodyPr wrap="square" lIns="0" tIns="0" rIns="0" bIns="0" rtlCol="0" anchor="ctr"/>
          <a:lstStyle/>
          <a:p>
            <a:pPr algn="ctr" indent="0" marL="0">
              <a:buNone/>
            </a:pPr>
            <a:r>
              <a:rPr lang="en-US" sz="1300" b="1" dirty="0">
                <a:solidFill>
                  <a:srgbClr val="2F3A56"/>
                </a:solidFill>
                <a:latin typeface="Cambria" pitchFamily="34" charset="0"/>
                <a:ea typeface="Cambria" pitchFamily="34" charset="-122"/>
                <a:cs typeface="Cambria" pitchFamily="34" charset="-120"/>
              </a:rPr>
              <a:t>GCC Compiler</a:t>
            </a:r>
            <a:endParaRPr lang="en-US" sz="1300" dirty="0"/>
          </a:p>
        </p:txBody>
      </p:sp>
      <p:sp>
        <p:nvSpPr>
          <p:cNvPr id="19" name="Text 13"/>
          <p:cNvSpPr txBox="1"/>
          <p:nvPr/>
        </p:nvSpPr>
        <p:spPr>
          <a:xfrm>
            <a:off x="3959352" y="3063240"/>
            <a:ext cx="1225296" cy="1234440"/>
          </a:xfrm>
          <a:prstGeom prst="rect">
            <a:avLst/>
          </a:prstGeom>
          <a:noFill/>
          <a:ln/>
        </p:spPr>
        <p:txBody>
          <a:bodyPr wrap="square" lIns="0" tIns="0" rIns="0" bIns="0" rtlCol="0" anchor="t"/>
          <a:lstStyle/>
          <a:p>
            <a:pPr algn="ctr" indent="0" marL="0">
              <a:buNone/>
            </a:pPr>
            <a:r>
              <a:rPr lang="en-US" sz="1100" dirty="0">
                <a:solidFill>
                  <a:srgbClr val="667090"/>
                </a:solidFill>
                <a:latin typeface="Calibri" pitchFamily="34" charset="0"/>
                <a:ea typeface="Calibri" pitchFamily="34" charset="-122"/>
                <a:cs typeface="Calibri" pitchFamily="34" charset="-120"/>
              </a:rPr>
              <a:t>Compiles and builds the C source code</a:t>
            </a:r>
            <a:endParaRPr lang="en-US" sz="1100" dirty="0"/>
          </a:p>
        </p:txBody>
      </p:sp>
      <p:sp>
        <p:nvSpPr>
          <p:cNvPr id="20" name="Shape 14"/>
          <p:cNvSpPr/>
          <p:nvPr/>
        </p:nvSpPr>
        <p:spPr>
          <a:xfrm>
            <a:off x="5504688" y="1371600"/>
            <a:ext cx="1499616" cy="30175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5"/>
          <p:cNvSpPr/>
          <p:nvPr/>
        </p:nvSpPr>
        <p:spPr>
          <a:xfrm>
            <a:off x="5888736" y="1600200"/>
            <a:ext cx="731520" cy="731520"/>
          </a:xfrm>
          <a:prstGeom prst="ellipse">
            <a:avLst/>
          </a:prstGeom>
          <a:solidFill>
            <a:srgbClr val="F6CDBF"/>
          </a:solidFill>
          <a:ln w="12700">
            <a:solidFill>
              <a:srgbClr val="F6CDBF"/>
            </a:solidFill>
            <a:prstDash val="solid"/>
          </a:ln>
        </p:spPr>
      </p:sp>
      <p:pic>
        <p:nvPicPr>
          <p:cNvPr id="22" name="Image 4" descr="preencoded.png">    </p:cNvPr>
          <p:cNvPicPr>
            <a:picLocks noChangeAspect="1"/>
          </p:cNvPicPr>
          <p:nvPr/>
        </p:nvPicPr>
        <p:blipFill>
          <a:blip r:embed="rId5"/>
          <a:stretch>
            <a:fillRect/>
          </a:stretch>
        </p:blipFill>
        <p:spPr>
          <a:xfrm>
            <a:off x="6071616" y="1783080"/>
            <a:ext cx="365760" cy="365760"/>
          </a:xfrm>
          <a:prstGeom prst="rect">
            <a:avLst/>
          </a:prstGeom>
        </p:spPr>
      </p:pic>
      <p:sp>
        <p:nvSpPr>
          <p:cNvPr id="23" name="Text 16"/>
          <p:cNvSpPr txBox="1"/>
          <p:nvPr/>
        </p:nvSpPr>
        <p:spPr>
          <a:xfrm>
            <a:off x="5614416" y="2514600"/>
            <a:ext cx="1280160" cy="502920"/>
          </a:xfrm>
          <a:prstGeom prst="rect">
            <a:avLst/>
          </a:prstGeom>
          <a:noFill/>
          <a:ln/>
        </p:spPr>
        <p:txBody>
          <a:bodyPr wrap="square" lIns="0" tIns="0" rIns="0" bIns="0" rtlCol="0" anchor="ctr"/>
          <a:lstStyle/>
          <a:p>
            <a:pPr algn="ctr" indent="0" marL="0">
              <a:buNone/>
            </a:pPr>
            <a:r>
              <a:rPr lang="en-US" sz="1300" b="1" dirty="0">
                <a:solidFill>
                  <a:srgbClr val="2F3A56"/>
                </a:solidFill>
                <a:latin typeface="Cambria" pitchFamily="34" charset="0"/>
                <a:ea typeface="Cambria" pitchFamily="34" charset="-122"/>
                <a:cs typeface="Cambria" pitchFamily="34" charset="-120"/>
              </a:rPr>
              <a:t>Linux Terminal</a:t>
            </a:r>
            <a:endParaRPr lang="en-US" sz="1300" dirty="0"/>
          </a:p>
        </p:txBody>
      </p:sp>
      <p:sp>
        <p:nvSpPr>
          <p:cNvPr id="24" name="Text 17"/>
          <p:cNvSpPr txBox="1"/>
          <p:nvPr/>
        </p:nvSpPr>
        <p:spPr>
          <a:xfrm>
            <a:off x="5641848" y="3063240"/>
            <a:ext cx="1225296" cy="1234440"/>
          </a:xfrm>
          <a:prstGeom prst="rect">
            <a:avLst/>
          </a:prstGeom>
          <a:noFill/>
          <a:ln/>
        </p:spPr>
        <p:txBody>
          <a:bodyPr wrap="square" lIns="0" tIns="0" rIns="0" bIns="0" rtlCol="0" anchor="t"/>
          <a:lstStyle/>
          <a:p>
            <a:pPr algn="ctr" indent="0" marL="0">
              <a:buNone/>
            </a:pPr>
            <a:r>
              <a:rPr lang="en-US" sz="1100" dirty="0">
                <a:solidFill>
                  <a:srgbClr val="667090"/>
                </a:solidFill>
                <a:latin typeface="Calibri" pitchFamily="34" charset="0"/>
                <a:ea typeface="Calibri" pitchFamily="34" charset="-122"/>
                <a:cs typeface="Calibri" pitchFamily="34" charset="-120"/>
              </a:rPr>
              <a:t>Runs the tool and shows live process resource information</a:t>
            </a:r>
            <a:endParaRPr lang="en-US" sz="1100" dirty="0"/>
          </a:p>
        </p:txBody>
      </p:sp>
      <p:sp>
        <p:nvSpPr>
          <p:cNvPr id="25" name="Shape 18"/>
          <p:cNvSpPr/>
          <p:nvPr/>
        </p:nvSpPr>
        <p:spPr>
          <a:xfrm>
            <a:off x="7187184" y="1371600"/>
            <a:ext cx="1499616" cy="3017520"/>
          </a:xfrm>
          <a:prstGeom prst="rect">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19"/>
          <p:cNvSpPr/>
          <p:nvPr/>
        </p:nvSpPr>
        <p:spPr>
          <a:xfrm>
            <a:off x="7571232" y="1600200"/>
            <a:ext cx="731520" cy="731520"/>
          </a:xfrm>
          <a:prstGeom prst="ellipse">
            <a:avLst/>
          </a:prstGeom>
          <a:solidFill>
            <a:srgbClr val="BBD3F2"/>
          </a:solidFill>
          <a:ln w="12700">
            <a:solidFill>
              <a:srgbClr val="BBD3F2"/>
            </a:solidFill>
            <a:prstDash val="solid"/>
          </a:ln>
        </p:spPr>
      </p:sp>
      <p:pic>
        <p:nvPicPr>
          <p:cNvPr id="27" name="Image 5" descr="preencoded.png">    </p:cNvPr>
          <p:cNvPicPr>
            <a:picLocks noChangeAspect="1"/>
          </p:cNvPicPr>
          <p:nvPr/>
        </p:nvPicPr>
        <p:blipFill>
          <a:blip r:embed="rId6"/>
          <a:stretch>
            <a:fillRect/>
          </a:stretch>
        </p:blipFill>
        <p:spPr>
          <a:xfrm>
            <a:off x="7754112" y="1783080"/>
            <a:ext cx="365760" cy="365760"/>
          </a:xfrm>
          <a:prstGeom prst="rect">
            <a:avLst/>
          </a:prstGeom>
        </p:spPr>
      </p:pic>
      <p:sp>
        <p:nvSpPr>
          <p:cNvPr id="28" name="Text 20"/>
          <p:cNvSpPr txBox="1"/>
          <p:nvPr/>
        </p:nvSpPr>
        <p:spPr>
          <a:xfrm>
            <a:off x="7296912" y="2514600"/>
            <a:ext cx="1280160" cy="502920"/>
          </a:xfrm>
          <a:prstGeom prst="rect">
            <a:avLst/>
          </a:prstGeom>
          <a:noFill/>
          <a:ln/>
        </p:spPr>
        <p:txBody>
          <a:bodyPr wrap="square" lIns="0" tIns="0" rIns="0" bIns="0" rtlCol="0" anchor="ctr"/>
          <a:lstStyle/>
          <a:p>
            <a:pPr algn="ctr" indent="0" marL="0">
              <a:buNone/>
            </a:pPr>
            <a:r>
              <a:rPr lang="en-US" sz="1300" b="1" dirty="0">
                <a:solidFill>
                  <a:srgbClr val="2F3A56"/>
                </a:solidFill>
                <a:latin typeface="Cambria" pitchFamily="34" charset="0"/>
                <a:ea typeface="Cambria" pitchFamily="34" charset="-122"/>
                <a:cs typeface="Cambria" pitchFamily="34" charset="-120"/>
              </a:rPr>
              <a:t>GitHub</a:t>
            </a:r>
            <a:endParaRPr lang="en-US" sz="1300" dirty="0"/>
          </a:p>
        </p:txBody>
      </p:sp>
      <p:sp>
        <p:nvSpPr>
          <p:cNvPr id="29" name="Text 21"/>
          <p:cNvSpPr txBox="1"/>
          <p:nvPr/>
        </p:nvSpPr>
        <p:spPr>
          <a:xfrm>
            <a:off x="7324344" y="3063240"/>
            <a:ext cx="1225296" cy="1234440"/>
          </a:xfrm>
          <a:prstGeom prst="rect">
            <a:avLst/>
          </a:prstGeom>
          <a:noFill/>
          <a:ln/>
        </p:spPr>
        <p:txBody>
          <a:bodyPr wrap="square" lIns="0" tIns="0" rIns="0" bIns="0" rtlCol="0" anchor="t"/>
          <a:lstStyle/>
          <a:p>
            <a:pPr algn="ctr" indent="0" marL="0">
              <a:buNone/>
            </a:pPr>
            <a:r>
              <a:rPr lang="en-US" sz="1100" dirty="0">
                <a:solidFill>
                  <a:srgbClr val="667090"/>
                </a:solidFill>
                <a:latin typeface="Calibri" pitchFamily="34" charset="0"/>
                <a:ea typeface="Calibri" pitchFamily="34" charset="-122"/>
                <a:cs typeface="Calibri" pitchFamily="34" charset="-120"/>
              </a:rPr>
              <a:t>Stores, versions and submits source code and documentation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3E9F8"/>
        </a:solidFill>
      </p:bgPr>
    </p:bg>
    <p:spTree>
      <p:nvGrpSpPr>
        <p:cNvPr id="1" name=""/>
        <p:cNvGrpSpPr/>
        <p:nvPr/>
      </p:nvGrpSpPr>
      <p:grpSpPr>
        <a:xfrm>
          <a:off x="0" y="0"/>
          <a:ext cx="0" cy="0"/>
          <a:chOff x="0" y="0"/>
          <a:chExt cx="0" cy="0"/>
        </a:xfrm>
      </p:grpSpPr>
      <p:sp>
        <p:nvSpPr>
          <p:cNvPr id="2" name="Shape 0"/>
          <p:cNvSpPr/>
          <p:nvPr/>
        </p:nvSpPr>
        <p:spPr>
          <a:xfrm>
            <a:off x="457200" y="347472"/>
            <a:ext cx="548640" cy="548640"/>
          </a:xfrm>
          <a:prstGeom prst="ellipse">
            <a:avLst/>
          </a:prstGeom>
          <a:solidFill>
            <a:srgbClr val="F6CDBF"/>
          </a:solidFill>
          <a:ln w="12700">
            <a:solidFill>
              <a:srgbClr val="F6CDBF"/>
            </a:solidFill>
            <a:prstDash val="solid"/>
          </a:ln>
        </p:spPr>
      </p:sp>
      <p:pic>
        <p:nvPicPr>
          <p:cNvPr id="3" name="Image 0" descr="preencoded.png">    </p:cNvPr>
          <p:cNvPicPr>
            <a:picLocks noChangeAspect="1"/>
          </p:cNvPicPr>
          <p:nvPr/>
        </p:nvPicPr>
        <p:blipFill>
          <a:blip r:embed="rId1"/>
          <a:stretch>
            <a:fillRect/>
          </a:stretch>
        </p:blipFill>
        <p:spPr>
          <a:xfrm>
            <a:off x="594360" y="484632"/>
            <a:ext cx="274320" cy="274320"/>
          </a:xfrm>
          <a:prstGeom prst="rect">
            <a:avLst/>
          </a:prstGeom>
        </p:spPr>
      </p:pic>
      <p:sp>
        <p:nvSpPr>
          <p:cNvPr id="4" name="Text 1"/>
          <p:cNvSpPr txBox="1"/>
          <p:nvPr/>
        </p:nvSpPr>
        <p:spPr>
          <a:xfrm>
            <a:off x="1188720" y="301752"/>
            <a:ext cx="7498080" cy="640080"/>
          </a:xfrm>
          <a:prstGeom prst="rect">
            <a:avLst/>
          </a:prstGeom>
          <a:noFill/>
          <a:ln/>
        </p:spPr>
        <p:txBody>
          <a:bodyPr wrap="square" lIns="0" tIns="0" rIns="0" bIns="0" rtlCol="0" anchor="ctr"/>
          <a:lstStyle/>
          <a:p>
            <a:pPr indent="0" marL="0">
              <a:buNone/>
            </a:pPr>
            <a:r>
              <a:rPr lang="en-US" sz="3000" b="1" dirty="0">
                <a:solidFill>
                  <a:srgbClr val="2F3A56"/>
                </a:solidFill>
                <a:latin typeface="Cambria" pitchFamily="34" charset="0"/>
                <a:ea typeface="Cambria" pitchFamily="34" charset="-122"/>
                <a:cs typeface="Cambria" pitchFamily="34" charset="-120"/>
              </a:rPr>
              <a:t>Expected Outcome</a:t>
            </a:r>
            <a:endParaRPr lang="en-US" sz="3000" dirty="0"/>
          </a:p>
        </p:txBody>
      </p:sp>
      <p:sp>
        <p:nvSpPr>
          <p:cNvPr id="5" name="Shape 2"/>
          <p:cNvSpPr/>
          <p:nvPr/>
        </p:nvSpPr>
        <p:spPr>
          <a:xfrm>
            <a:off x="457200" y="128016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6" name="Shape 3"/>
          <p:cNvSpPr/>
          <p:nvPr/>
        </p:nvSpPr>
        <p:spPr>
          <a:xfrm>
            <a:off x="640080" y="1444752"/>
            <a:ext cx="457200" cy="457200"/>
          </a:xfrm>
          <a:prstGeom prst="ellipse">
            <a:avLst/>
          </a:prstGeom>
          <a:solidFill>
            <a:srgbClr val="BBD3F2"/>
          </a:solidFill>
          <a:ln w="12700">
            <a:solidFill>
              <a:srgbClr val="BBD3F2"/>
            </a:solidFill>
            <a:prstDash val="solid"/>
          </a:ln>
        </p:spPr>
      </p:sp>
      <p:pic>
        <p:nvPicPr>
          <p:cNvPr id="7" name="Image 1" descr="preencoded.png">    </p:cNvPr>
          <p:cNvPicPr>
            <a:picLocks noChangeAspect="1"/>
          </p:cNvPicPr>
          <p:nvPr/>
        </p:nvPicPr>
        <p:blipFill>
          <a:blip r:embed="rId2"/>
          <a:stretch>
            <a:fillRect/>
          </a:stretch>
        </p:blipFill>
        <p:spPr>
          <a:xfrm>
            <a:off x="754380" y="1559052"/>
            <a:ext cx="228600" cy="228600"/>
          </a:xfrm>
          <a:prstGeom prst="rect">
            <a:avLst/>
          </a:prstGeom>
        </p:spPr>
      </p:pic>
      <p:sp>
        <p:nvSpPr>
          <p:cNvPr id="8" name="Text 4"/>
          <p:cNvSpPr txBox="1"/>
          <p:nvPr/>
        </p:nvSpPr>
        <p:spPr>
          <a:xfrm>
            <a:off x="1234440" y="144475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System information</a:t>
            </a:r>
            <a:endParaRPr lang="en-US" sz="1400" dirty="0"/>
          </a:p>
        </p:txBody>
      </p:sp>
      <p:sp>
        <p:nvSpPr>
          <p:cNvPr id="9" name="Text 5"/>
          <p:cNvSpPr txBox="1"/>
          <p:nvPr/>
        </p:nvSpPr>
        <p:spPr>
          <a:xfrm>
            <a:off x="640080" y="202996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CPU details, CPU and memory usage, disk usage and uptime</a:t>
            </a:r>
            <a:endParaRPr lang="en-US" sz="1150" dirty="0"/>
          </a:p>
        </p:txBody>
      </p:sp>
      <p:sp>
        <p:nvSpPr>
          <p:cNvPr id="10" name="Shape 6"/>
          <p:cNvSpPr/>
          <p:nvPr/>
        </p:nvSpPr>
        <p:spPr>
          <a:xfrm>
            <a:off x="3246120" y="128016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3429000" y="1444752"/>
            <a:ext cx="457200" cy="457200"/>
          </a:xfrm>
          <a:prstGeom prst="ellipse">
            <a:avLst/>
          </a:prstGeom>
          <a:solidFill>
            <a:srgbClr val="CBE8DA"/>
          </a:solidFill>
          <a:ln w="12700">
            <a:solidFill>
              <a:srgbClr val="CBE8DA"/>
            </a:solidFill>
            <a:prstDash val="solid"/>
          </a:ln>
        </p:spPr>
      </p:sp>
      <p:pic>
        <p:nvPicPr>
          <p:cNvPr id="12" name="Image 2" descr="preencoded.png">    </p:cNvPr>
          <p:cNvPicPr>
            <a:picLocks noChangeAspect="1"/>
          </p:cNvPicPr>
          <p:nvPr/>
        </p:nvPicPr>
        <p:blipFill>
          <a:blip r:embed="rId3"/>
          <a:stretch>
            <a:fillRect/>
          </a:stretch>
        </p:blipFill>
        <p:spPr>
          <a:xfrm>
            <a:off x="3543300" y="1559052"/>
            <a:ext cx="228600" cy="228600"/>
          </a:xfrm>
          <a:prstGeom prst="rect">
            <a:avLst/>
          </a:prstGeom>
        </p:spPr>
      </p:pic>
      <p:sp>
        <p:nvSpPr>
          <p:cNvPr id="13" name="Text 8"/>
          <p:cNvSpPr txBox="1"/>
          <p:nvPr/>
        </p:nvSpPr>
        <p:spPr>
          <a:xfrm>
            <a:off x="4023360" y="144475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Process information</a:t>
            </a:r>
            <a:endParaRPr lang="en-US" sz="1400" dirty="0"/>
          </a:p>
        </p:txBody>
      </p:sp>
      <p:sp>
        <p:nvSpPr>
          <p:cNvPr id="14" name="Text 9"/>
          <p:cNvSpPr txBox="1"/>
          <p:nvPr/>
        </p:nvSpPr>
        <p:spPr>
          <a:xfrm>
            <a:off x="3429000" y="202996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PID, name, state and memory usage for each process</a:t>
            </a:r>
            <a:endParaRPr lang="en-US" sz="1150" dirty="0"/>
          </a:p>
        </p:txBody>
      </p:sp>
      <p:sp>
        <p:nvSpPr>
          <p:cNvPr id="15" name="Shape 10"/>
          <p:cNvSpPr/>
          <p:nvPr/>
        </p:nvSpPr>
        <p:spPr>
          <a:xfrm>
            <a:off x="6035040" y="128016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16" name="Shape 11"/>
          <p:cNvSpPr/>
          <p:nvPr/>
        </p:nvSpPr>
        <p:spPr>
          <a:xfrm>
            <a:off x="6217920" y="1444752"/>
            <a:ext cx="457200" cy="457200"/>
          </a:xfrm>
          <a:prstGeom prst="ellipse">
            <a:avLst/>
          </a:prstGeom>
          <a:solidFill>
            <a:srgbClr val="D9D0F2"/>
          </a:solidFill>
          <a:ln w="12700">
            <a:solidFill>
              <a:srgbClr val="D9D0F2"/>
            </a:solidFill>
            <a:prstDash val="solid"/>
          </a:ln>
        </p:spPr>
      </p:sp>
      <p:pic>
        <p:nvPicPr>
          <p:cNvPr id="17" name="Image 3" descr="preencoded.png">    </p:cNvPr>
          <p:cNvPicPr>
            <a:picLocks noChangeAspect="1"/>
          </p:cNvPicPr>
          <p:nvPr/>
        </p:nvPicPr>
        <p:blipFill>
          <a:blip r:embed="rId4"/>
          <a:stretch>
            <a:fillRect/>
          </a:stretch>
        </p:blipFill>
        <p:spPr>
          <a:xfrm>
            <a:off x="6332220" y="1559052"/>
            <a:ext cx="228600" cy="228600"/>
          </a:xfrm>
          <a:prstGeom prst="rect">
            <a:avLst/>
          </a:prstGeom>
        </p:spPr>
      </p:pic>
      <p:sp>
        <p:nvSpPr>
          <p:cNvPr id="18" name="Text 12"/>
          <p:cNvSpPr txBox="1"/>
          <p:nvPr/>
        </p:nvSpPr>
        <p:spPr>
          <a:xfrm>
            <a:off x="6812280" y="144475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Threshold warnings</a:t>
            </a:r>
            <a:endParaRPr lang="en-US" sz="1400" dirty="0"/>
          </a:p>
        </p:txBody>
      </p:sp>
      <p:sp>
        <p:nvSpPr>
          <p:cNvPr id="19" name="Text 13"/>
          <p:cNvSpPr txBox="1"/>
          <p:nvPr/>
        </p:nvSpPr>
        <p:spPr>
          <a:xfrm>
            <a:off x="6217920" y="202996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Configurable CPU and memory limits with alerts when exceeded</a:t>
            </a:r>
            <a:endParaRPr lang="en-US" sz="1150" dirty="0"/>
          </a:p>
        </p:txBody>
      </p:sp>
      <p:sp>
        <p:nvSpPr>
          <p:cNvPr id="20" name="Shape 14"/>
          <p:cNvSpPr/>
          <p:nvPr/>
        </p:nvSpPr>
        <p:spPr>
          <a:xfrm>
            <a:off x="457200" y="283464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21" name="Shape 15"/>
          <p:cNvSpPr/>
          <p:nvPr/>
        </p:nvSpPr>
        <p:spPr>
          <a:xfrm>
            <a:off x="640080" y="2999232"/>
            <a:ext cx="457200" cy="457200"/>
          </a:xfrm>
          <a:prstGeom prst="ellipse">
            <a:avLst/>
          </a:prstGeom>
          <a:solidFill>
            <a:srgbClr val="F6CDBF"/>
          </a:solidFill>
          <a:ln w="12700">
            <a:solidFill>
              <a:srgbClr val="F6CDBF"/>
            </a:solidFill>
            <a:prstDash val="solid"/>
          </a:ln>
        </p:spPr>
      </p:sp>
      <p:pic>
        <p:nvPicPr>
          <p:cNvPr id="22" name="Image 4" descr="preencoded.png">    </p:cNvPr>
          <p:cNvPicPr>
            <a:picLocks noChangeAspect="1"/>
          </p:cNvPicPr>
          <p:nvPr/>
        </p:nvPicPr>
        <p:blipFill>
          <a:blip r:embed="rId5"/>
          <a:stretch>
            <a:fillRect/>
          </a:stretch>
        </p:blipFill>
        <p:spPr>
          <a:xfrm>
            <a:off x="754380" y="3113532"/>
            <a:ext cx="228600" cy="228600"/>
          </a:xfrm>
          <a:prstGeom prst="rect">
            <a:avLst/>
          </a:prstGeom>
        </p:spPr>
      </p:pic>
      <p:sp>
        <p:nvSpPr>
          <p:cNvPr id="23" name="Text 16"/>
          <p:cNvSpPr txBox="1"/>
          <p:nvPr/>
        </p:nvSpPr>
        <p:spPr>
          <a:xfrm>
            <a:off x="1234440" y="299923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Signal control</a:t>
            </a:r>
            <a:endParaRPr lang="en-US" sz="1400" dirty="0"/>
          </a:p>
        </p:txBody>
      </p:sp>
      <p:sp>
        <p:nvSpPr>
          <p:cNvPr id="24" name="Text 17"/>
          <p:cNvSpPr txBox="1"/>
          <p:nvPr/>
        </p:nvSpPr>
        <p:spPr>
          <a:xfrm>
            <a:off x="640080" y="358444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Stop, continue or terminate selected processes by PID</a:t>
            </a:r>
            <a:endParaRPr lang="en-US" sz="1150" dirty="0"/>
          </a:p>
        </p:txBody>
      </p:sp>
      <p:sp>
        <p:nvSpPr>
          <p:cNvPr id="25" name="Shape 18"/>
          <p:cNvSpPr/>
          <p:nvPr/>
        </p:nvSpPr>
        <p:spPr>
          <a:xfrm>
            <a:off x="3246120" y="283464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26" name="Shape 19"/>
          <p:cNvSpPr/>
          <p:nvPr/>
        </p:nvSpPr>
        <p:spPr>
          <a:xfrm>
            <a:off x="3429000" y="2999232"/>
            <a:ext cx="457200" cy="457200"/>
          </a:xfrm>
          <a:prstGeom prst="ellipse">
            <a:avLst/>
          </a:prstGeom>
          <a:solidFill>
            <a:srgbClr val="BBD3F2"/>
          </a:solidFill>
          <a:ln w="12700">
            <a:solidFill>
              <a:srgbClr val="BBD3F2"/>
            </a:solidFill>
            <a:prstDash val="solid"/>
          </a:ln>
        </p:spPr>
      </p:sp>
      <p:pic>
        <p:nvPicPr>
          <p:cNvPr id="27" name="Image 5" descr="preencoded.png">    </p:cNvPr>
          <p:cNvPicPr>
            <a:picLocks noChangeAspect="1"/>
          </p:cNvPicPr>
          <p:nvPr/>
        </p:nvPicPr>
        <p:blipFill>
          <a:blip r:embed="rId6"/>
          <a:stretch>
            <a:fillRect/>
          </a:stretch>
        </p:blipFill>
        <p:spPr>
          <a:xfrm>
            <a:off x="3543300" y="3113532"/>
            <a:ext cx="228600" cy="228600"/>
          </a:xfrm>
          <a:prstGeom prst="rect">
            <a:avLst/>
          </a:prstGeom>
        </p:spPr>
      </p:pic>
      <p:sp>
        <p:nvSpPr>
          <p:cNvPr id="28" name="Text 20"/>
          <p:cNvSpPr txBox="1"/>
          <p:nvPr/>
        </p:nvSpPr>
        <p:spPr>
          <a:xfrm>
            <a:off x="4023360" y="299923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Activity tracking</a:t>
            </a:r>
            <a:endParaRPr lang="en-US" sz="1400" dirty="0"/>
          </a:p>
        </p:txBody>
      </p:sp>
      <p:sp>
        <p:nvSpPr>
          <p:cNvPr id="29" name="Text 21"/>
          <p:cNvSpPr txBox="1"/>
          <p:nvPr/>
        </p:nvSpPr>
        <p:spPr>
          <a:xfrm>
            <a:off x="3429000" y="358444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Newly created and terminated processes detected live</a:t>
            </a:r>
            <a:endParaRPr lang="en-US" sz="1150" dirty="0"/>
          </a:p>
        </p:txBody>
      </p:sp>
      <p:sp>
        <p:nvSpPr>
          <p:cNvPr id="30" name="Shape 22"/>
          <p:cNvSpPr/>
          <p:nvPr/>
        </p:nvSpPr>
        <p:spPr>
          <a:xfrm>
            <a:off x="6035040" y="2834640"/>
            <a:ext cx="2651760" cy="1417320"/>
          </a:xfrm>
          <a:prstGeom prst="rect">
            <a:avLst/>
          </a:prstGeom>
          <a:solidFill>
            <a:srgbClr val="FFFFFF"/>
          </a:solidFill>
          <a:ln w="12700">
            <a:solidFill>
              <a:srgbClr val="C9D3EC"/>
            </a:solidFill>
            <a:prstDash val="solid"/>
          </a:ln>
          <a:effectLst>
            <a:outerShdw sx="100000" sy="100000" kx="0" ky="0" algn="bl" rotWithShape="0" blurRad="76200" dist="25400" dir="5400000">
              <a:srgbClr val="000000">
                <a:alpha val="12000"/>
              </a:srgbClr>
            </a:outerShdw>
          </a:effectLst>
        </p:spPr>
      </p:sp>
      <p:sp>
        <p:nvSpPr>
          <p:cNvPr id="31" name="Shape 23"/>
          <p:cNvSpPr/>
          <p:nvPr/>
        </p:nvSpPr>
        <p:spPr>
          <a:xfrm>
            <a:off x="6217920" y="2999232"/>
            <a:ext cx="457200" cy="457200"/>
          </a:xfrm>
          <a:prstGeom prst="ellipse">
            <a:avLst/>
          </a:prstGeom>
          <a:solidFill>
            <a:srgbClr val="CBE8DA"/>
          </a:solidFill>
          <a:ln w="12700">
            <a:solidFill>
              <a:srgbClr val="CBE8DA"/>
            </a:solidFill>
            <a:prstDash val="solid"/>
          </a:ln>
        </p:spPr>
      </p:sp>
      <p:pic>
        <p:nvPicPr>
          <p:cNvPr id="32" name="Image 6" descr="preencoded.png">    </p:cNvPr>
          <p:cNvPicPr>
            <a:picLocks noChangeAspect="1"/>
          </p:cNvPicPr>
          <p:nvPr/>
        </p:nvPicPr>
        <p:blipFill>
          <a:blip r:embed="rId7"/>
          <a:stretch>
            <a:fillRect/>
          </a:stretch>
        </p:blipFill>
        <p:spPr>
          <a:xfrm>
            <a:off x="6332220" y="3113532"/>
            <a:ext cx="228600" cy="228600"/>
          </a:xfrm>
          <a:prstGeom prst="rect">
            <a:avLst/>
          </a:prstGeom>
        </p:spPr>
      </p:pic>
      <p:sp>
        <p:nvSpPr>
          <p:cNvPr id="33" name="Text 24"/>
          <p:cNvSpPr txBox="1"/>
          <p:nvPr/>
        </p:nvSpPr>
        <p:spPr>
          <a:xfrm>
            <a:off x="6812280" y="2999232"/>
            <a:ext cx="1783080" cy="457200"/>
          </a:xfrm>
          <a:prstGeom prst="rect">
            <a:avLst/>
          </a:prstGeom>
          <a:noFill/>
          <a:ln/>
        </p:spPr>
        <p:txBody>
          <a:bodyPr wrap="square" lIns="0" tIns="0" rIns="0" bIns="0" rtlCol="0" anchor="ctr"/>
          <a:lstStyle/>
          <a:p>
            <a:pPr indent="0" marL="0">
              <a:buNone/>
            </a:pPr>
            <a:r>
              <a:rPr lang="en-US" sz="1400" b="1" dirty="0">
                <a:solidFill>
                  <a:srgbClr val="2F3A56"/>
                </a:solidFill>
                <a:latin typeface="Cambria" pitchFamily="34" charset="0"/>
                <a:ea typeface="Cambria" pitchFamily="34" charset="-122"/>
                <a:cs typeface="Cambria" pitchFamily="34" charset="-120"/>
              </a:rPr>
              <a:t>Persistent log</a:t>
            </a:r>
            <a:endParaRPr lang="en-US" sz="1400" dirty="0"/>
          </a:p>
        </p:txBody>
      </p:sp>
      <p:sp>
        <p:nvSpPr>
          <p:cNvPr id="34" name="Text 25"/>
          <p:cNvSpPr txBox="1"/>
          <p:nvPr/>
        </p:nvSpPr>
        <p:spPr>
          <a:xfrm>
            <a:off x="6217920" y="3584448"/>
            <a:ext cx="2331720" cy="594360"/>
          </a:xfrm>
          <a:prstGeom prst="rect">
            <a:avLst/>
          </a:prstGeom>
          <a:noFill/>
          <a:ln/>
        </p:spPr>
        <p:txBody>
          <a:bodyPr wrap="square" lIns="0" tIns="0" rIns="0" bIns="0" rtlCol="0" anchor="t"/>
          <a:lstStyle/>
          <a:p>
            <a:pPr indent="0" marL="0">
              <a:buNone/>
            </a:pPr>
            <a:r>
              <a:rPr lang="en-US" sz="1150" dirty="0">
                <a:solidFill>
                  <a:srgbClr val="667090"/>
                </a:solidFill>
                <a:latin typeface="Calibri" pitchFamily="34" charset="0"/>
                <a:ea typeface="Calibri" pitchFamily="34" charset="-122"/>
                <a:cs typeface="Calibri" pitchFamily="34" charset="-120"/>
              </a:rPr>
              <a:t>Events and operations saved in monitor.log</a:t>
            </a:r>
            <a:endParaRPr lang="en-US" sz="1150" dirty="0"/>
          </a:p>
        </p:txBody>
      </p:sp>
      <p:sp>
        <p:nvSpPr>
          <p:cNvPr id="35" name="Text 26"/>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300" i="1" dirty="0">
                <a:solidFill>
                  <a:srgbClr val="5B6FB0"/>
                </a:solidFill>
                <a:latin typeface="Calibri" pitchFamily="34" charset="0"/>
                <a:ea typeface="Calibri" pitchFamily="34" charset="-122"/>
                <a:cs typeface="Calibri" pitchFamily="34" charset="-120"/>
              </a:rPr>
              <a:t>A working C-based monitoring system demonstrating practical Linux OS and systems programming concepts.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Linux System Information and Resource Monitoring Tool</dc:title>
  <dc:subject>PptxGenJS Presentation</dc:subject>
  <dc:creator>PptxGenJS</dc:creator>
  <cp:lastModifiedBy>PptxGenJS</cp:lastModifiedBy>
  <cp:revision>1</cp:revision>
  <dcterms:created xsi:type="dcterms:W3CDTF">2026-10-01T05:59:54Z</dcterms:created>
  <dcterms:modified xsi:type="dcterms:W3CDTF">2026-10-01T05:59:54Z</dcterms:modified>
</cp:coreProperties>
</file>